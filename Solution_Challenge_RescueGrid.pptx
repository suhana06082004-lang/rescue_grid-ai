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70" r:id="rId16"/>
  </p:sldIdLst>
  <p:sldSz cx="9144000" cy="5143500" type="screen16x9"/>
  <p:notesSz cx="6858000" cy="9144000"/>
  <p:embeddedFontLst>
    <p:embeddedFont>
      <p:font typeface="Google Sans" panose="020B060402020202020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88E172-B0BB-4C2B-A075-AFC11CCCF24A}" v="15" dt="2026-04-26T13:13:53.6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946"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1.fntdata"/><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font" Target="fonts/font4.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font" Target="fonts/font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shan raj" userId="f01527b3f37e8415" providerId="LiveId" clId="{8A6E80EE-3C34-44C7-A487-05AF6942D425}"/>
    <pc:docChg chg="undo custSel delSld modSld sldOrd">
      <pc:chgData name="kishan raj" userId="f01527b3f37e8415" providerId="LiveId" clId="{8A6E80EE-3C34-44C7-A487-05AF6942D425}" dt="2026-04-26T15:15:25.696" v="1023" actId="2696"/>
      <pc:docMkLst>
        <pc:docMk/>
      </pc:docMkLst>
      <pc:sldChg chg="modSp mod">
        <pc:chgData name="kishan raj" userId="f01527b3f37e8415" providerId="LiveId" clId="{8A6E80EE-3C34-44C7-A487-05AF6942D425}" dt="2026-04-26T12:13:28.081" v="178" actId="113"/>
        <pc:sldMkLst>
          <pc:docMk/>
          <pc:sldMk cId="0" sldId="257"/>
        </pc:sldMkLst>
        <pc:spChg chg="mod">
          <ac:chgData name="kishan raj" userId="f01527b3f37e8415" providerId="LiveId" clId="{8A6E80EE-3C34-44C7-A487-05AF6942D425}" dt="2026-04-26T12:13:28.081" v="178" actId="113"/>
          <ac:spMkLst>
            <pc:docMk/>
            <pc:sldMk cId="0" sldId="257"/>
            <ac:spMk id="109" creationId="{00000000-0000-0000-0000-000000000000}"/>
          </ac:spMkLst>
        </pc:spChg>
        <pc:picChg chg="mod">
          <ac:chgData name="kishan raj" userId="f01527b3f37e8415" providerId="LiveId" clId="{8A6E80EE-3C34-44C7-A487-05AF6942D425}" dt="2026-04-26T11:51:07.601" v="33" actId="1076"/>
          <ac:picMkLst>
            <pc:docMk/>
            <pc:sldMk cId="0" sldId="257"/>
            <ac:picMk id="108" creationId="{00000000-0000-0000-0000-000000000000}"/>
          </ac:picMkLst>
        </pc:picChg>
        <pc:picChg chg="mod">
          <ac:chgData name="kishan raj" userId="f01527b3f37e8415" providerId="LiveId" clId="{8A6E80EE-3C34-44C7-A487-05AF6942D425}" dt="2026-04-26T11:59:45.028" v="49" actId="1076"/>
          <ac:picMkLst>
            <pc:docMk/>
            <pc:sldMk cId="0" sldId="257"/>
            <ac:picMk id="110" creationId="{00000000-0000-0000-0000-000000000000}"/>
          </ac:picMkLst>
        </pc:picChg>
      </pc:sldChg>
      <pc:sldChg chg="modSp mod">
        <pc:chgData name="kishan raj" userId="f01527b3f37e8415" providerId="LiveId" clId="{8A6E80EE-3C34-44C7-A487-05AF6942D425}" dt="2026-04-26T12:12:21.059" v="175" actId="207"/>
        <pc:sldMkLst>
          <pc:docMk/>
          <pc:sldMk cId="0" sldId="258"/>
        </pc:sldMkLst>
        <pc:spChg chg="mod">
          <ac:chgData name="kishan raj" userId="f01527b3f37e8415" providerId="LiveId" clId="{8A6E80EE-3C34-44C7-A487-05AF6942D425}" dt="2026-04-26T12:06:57.878" v="165" actId="122"/>
          <ac:spMkLst>
            <pc:docMk/>
            <pc:sldMk cId="0" sldId="258"/>
            <ac:spMk id="115" creationId="{00000000-0000-0000-0000-000000000000}"/>
          </ac:spMkLst>
        </pc:spChg>
        <pc:spChg chg="mod">
          <ac:chgData name="kishan raj" userId="f01527b3f37e8415" providerId="LiveId" clId="{8A6E80EE-3C34-44C7-A487-05AF6942D425}" dt="2026-04-26T12:12:21.059" v="175" actId="207"/>
          <ac:spMkLst>
            <pc:docMk/>
            <pc:sldMk cId="0" sldId="258"/>
            <ac:spMk id="117" creationId="{00000000-0000-0000-0000-000000000000}"/>
          </ac:spMkLst>
        </pc:spChg>
      </pc:sldChg>
      <pc:sldChg chg="delSp modSp mod">
        <pc:chgData name="kishan raj" userId="f01527b3f37e8415" providerId="LiveId" clId="{8A6E80EE-3C34-44C7-A487-05AF6942D425}" dt="2026-04-26T12:25:59.126" v="515" actId="115"/>
        <pc:sldMkLst>
          <pc:docMk/>
          <pc:sldMk cId="0" sldId="259"/>
        </pc:sldMkLst>
        <pc:spChg chg="mod">
          <ac:chgData name="kishan raj" userId="f01527b3f37e8415" providerId="LiveId" clId="{8A6E80EE-3C34-44C7-A487-05AF6942D425}" dt="2026-04-26T12:25:59.126" v="515" actId="115"/>
          <ac:spMkLst>
            <pc:docMk/>
            <pc:sldMk cId="0" sldId="259"/>
            <ac:spMk id="121" creationId="{00000000-0000-0000-0000-000000000000}"/>
          </ac:spMkLst>
        </pc:spChg>
        <pc:spChg chg="del mod">
          <ac:chgData name="kishan raj" userId="f01527b3f37e8415" providerId="LiveId" clId="{8A6E80EE-3C34-44C7-A487-05AF6942D425}" dt="2026-04-26T12:17:16.781" v="181" actId="478"/>
          <ac:spMkLst>
            <pc:docMk/>
            <pc:sldMk cId="0" sldId="259"/>
            <ac:spMk id="123" creationId="{00000000-0000-0000-0000-000000000000}"/>
          </ac:spMkLst>
        </pc:spChg>
      </pc:sldChg>
      <pc:sldChg chg="modSp mod">
        <pc:chgData name="kishan raj" userId="f01527b3f37e8415" providerId="LiveId" clId="{8A6E80EE-3C34-44C7-A487-05AF6942D425}" dt="2026-04-26T12:40:14.283" v="667" actId="1076"/>
        <pc:sldMkLst>
          <pc:docMk/>
          <pc:sldMk cId="0" sldId="260"/>
        </pc:sldMkLst>
        <pc:spChg chg="mod">
          <ac:chgData name="kishan raj" userId="f01527b3f37e8415" providerId="LiveId" clId="{8A6E80EE-3C34-44C7-A487-05AF6942D425}" dt="2026-04-26T12:38:29.396" v="664" actId="1076"/>
          <ac:spMkLst>
            <pc:docMk/>
            <pc:sldMk cId="0" sldId="260"/>
            <ac:spMk id="127" creationId="{00000000-0000-0000-0000-000000000000}"/>
          </ac:spMkLst>
        </pc:spChg>
        <pc:spChg chg="mod">
          <ac:chgData name="kishan raj" userId="f01527b3f37e8415" providerId="LiveId" clId="{8A6E80EE-3C34-44C7-A487-05AF6942D425}" dt="2026-04-26T12:40:14.283" v="667" actId="1076"/>
          <ac:spMkLst>
            <pc:docMk/>
            <pc:sldMk cId="0" sldId="260"/>
            <ac:spMk id="129" creationId="{00000000-0000-0000-0000-000000000000}"/>
          </ac:spMkLst>
        </pc:spChg>
      </pc:sldChg>
      <pc:sldChg chg="addSp delSp modSp mod">
        <pc:chgData name="kishan raj" userId="f01527b3f37e8415" providerId="LiveId" clId="{8A6E80EE-3C34-44C7-A487-05AF6942D425}" dt="2026-04-26T12:57:44.277" v="722" actId="1076"/>
        <pc:sldMkLst>
          <pc:docMk/>
          <pc:sldMk cId="0" sldId="261"/>
        </pc:sldMkLst>
        <pc:spChg chg="add del mod">
          <ac:chgData name="kishan raj" userId="f01527b3f37e8415" providerId="LiveId" clId="{8A6E80EE-3C34-44C7-A487-05AF6942D425}" dt="2026-04-26T12:46:44.918" v="698"/>
          <ac:spMkLst>
            <pc:docMk/>
            <pc:sldMk cId="0" sldId="261"/>
            <ac:spMk id="3" creationId="{D11096E6-479A-7F94-0440-7B1F77FA4F07}"/>
          </ac:spMkLst>
        </pc:spChg>
        <pc:spChg chg="add del mod">
          <ac:chgData name="kishan raj" userId="f01527b3f37e8415" providerId="LiveId" clId="{8A6E80EE-3C34-44C7-A487-05AF6942D425}" dt="2026-04-26T12:46:53.671" v="701" actId="478"/>
          <ac:spMkLst>
            <pc:docMk/>
            <pc:sldMk cId="0" sldId="261"/>
            <ac:spMk id="5" creationId="{86D1236C-F7F0-7D0A-EC34-26ACD8EA0448}"/>
          </ac:spMkLst>
        </pc:spChg>
        <pc:spChg chg="mod">
          <ac:chgData name="kishan raj" userId="f01527b3f37e8415" providerId="LiveId" clId="{8A6E80EE-3C34-44C7-A487-05AF6942D425}" dt="2026-04-26T12:56:56.751" v="716" actId="1076"/>
          <ac:spMkLst>
            <pc:docMk/>
            <pc:sldMk cId="0" sldId="261"/>
            <ac:spMk id="133" creationId="{00000000-0000-0000-0000-000000000000}"/>
          </ac:spMkLst>
        </pc:spChg>
        <pc:spChg chg="del mod">
          <ac:chgData name="kishan raj" userId="f01527b3f37e8415" providerId="LiveId" clId="{8A6E80EE-3C34-44C7-A487-05AF6942D425}" dt="2026-04-26T12:42:07.118" v="669" actId="478"/>
          <ac:spMkLst>
            <pc:docMk/>
            <pc:sldMk cId="0" sldId="261"/>
            <ac:spMk id="135" creationId="{00000000-0000-0000-0000-000000000000}"/>
          </ac:spMkLst>
        </pc:spChg>
        <pc:picChg chg="add del mod">
          <ac:chgData name="kishan raj" userId="f01527b3f37e8415" providerId="LiveId" clId="{8A6E80EE-3C34-44C7-A487-05AF6942D425}" dt="2026-04-26T12:57:05.444" v="717" actId="21"/>
          <ac:picMkLst>
            <pc:docMk/>
            <pc:sldMk cId="0" sldId="261"/>
            <ac:picMk id="7" creationId="{F2C14CB5-E007-A290-C206-61FFD3F55369}"/>
          </ac:picMkLst>
        </pc:picChg>
        <pc:picChg chg="add mod">
          <ac:chgData name="kishan raj" userId="f01527b3f37e8415" providerId="LiveId" clId="{8A6E80EE-3C34-44C7-A487-05AF6942D425}" dt="2026-04-26T12:57:44.277" v="722" actId="1076"/>
          <ac:picMkLst>
            <pc:docMk/>
            <pc:sldMk cId="0" sldId="261"/>
            <ac:picMk id="9" creationId="{31A2FB09-56B9-F751-7DB1-2AD4CBD6581F}"/>
          </ac:picMkLst>
        </pc:picChg>
      </pc:sldChg>
      <pc:sldChg chg="addSp delSp modSp mod modNotes">
        <pc:chgData name="kishan raj" userId="f01527b3f37e8415" providerId="LiveId" clId="{8A6E80EE-3C34-44C7-A487-05AF6942D425}" dt="2026-04-26T13:19:17.455" v="825" actId="20577"/>
        <pc:sldMkLst>
          <pc:docMk/>
          <pc:sldMk cId="0" sldId="262"/>
        </pc:sldMkLst>
        <pc:spChg chg="add del mod">
          <ac:chgData name="kishan raj" userId="f01527b3f37e8415" providerId="LiveId" clId="{8A6E80EE-3C34-44C7-A487-05AF6942D425}" dt="2026-04-26T12:58:26.383" v="724" actId="478"/>
          <ac:spMkLst>
            <pc:docMk/>
            <pc:sldMk cId="0" sldId="262"/>
            <ac:spMk id="2" creationId="{1D50AA1B-5195-94EB-8479-2C6D152E76E8}"/>
          </ac:spMkLst>
        </pc:spChg>
        <pc:spChg chg="add del mod">
          <ac:chgData name="kishan raj" userId="f01527b3f37e8415" providerId="LiveId" clId="{8A6E80EE-3C34-44C7-A487-05AF6942D425}" dt="2026-04-26T12:58:36.470" v="727" actId="478"/>
          <ac:spMkLst>
            <pc:docMk/>
            <pc:sldMk cId="0" sldId="262"/>
            <ac:spMk id="3" creationId="{8E589384-80AD-9D62-1914-A27377B5A7AD}"/>
          </ac:spMkLst>
        </pc:spChg>
        <pc:spChg chg="add del mod">
          <ac:chgData name="kishan raj" userId="f01527b3f37e8415" providerId="LiveId" clId="{8A6E80EE-3C34-44C7-A487-05AF6942D425}" dt="2026-04-26T13:14:27.073" v="784" actId="478"/>
          <ac:spMkLst>
            <pc:docMk/>
            <pc:sldMk cId="0" sldId="262"/>
            <ac:spMk id="14" creationId="{01E4A8B9-3E67-2F6D-6611-ED0B8D6B50AE}"/>
          </ac:spMkLst>
        </pc:spChg>
        <pc:spChg chg="add del mod">
          <ac:chgData name="kishan raj" userId="f01527b3f37e8415" providerId="LiveId" clId="{8A6E80EE-3C34-44C7-A487-05AF6942D425}" dt="2026-04-26T13:15:08.824" v="787" actId="478"/>
          <ac:spMkLst>
            <pc:docMk/>
            <pc:sldMk cId="0" sldId="262"/>
            <ac:spMk id="16" creationId="{46AECBFF-F9D2-A4B9-4C8E-FAFBA9FDC8C1}"/>
          </ac:spMkLst>
        </pc:spChg>
        <pc:spChg chg="add mod">
          <ac:chgData name="kishan raj" userId="f01527b3f37e8415" providerId="LiveId" clId="{8A6E80EE-3C34-44C7-A487-05AF6942D425}" dt="2026-04-26T13:19:02.959" v="822" actId="255"/>
          <ac:spMkLst>
            <pc:docMk/>
            <pc:sldMk cId="0" sldId="262"/>
            <ac:spMk id="18" creationId="{79C0D101-D52E-63B9-1CA3-05C62AB5A351}"/>
          </ac:spMkLst>
        </pc:spChg>
        <pc:spChg chg="add del mod">
          <ac:chgData name="kishan raj" userId="f01527b3f37e8415" providerId="LiveId" clId="{8A6E80EE-3C34-44C7-A487-05AF6942D425}" dt="2026-04-26T13:17:27.438" v="803" actId="478"/>
          <ac:spMkLst>
            <pc:docMk/>
            <pc:sldMk cId="0" sldId="262"/>
            <ac:spMk id="20" creationId="{DC602C28-DA81-F492-1D11-1E9E7633A87A}"/>
          </ac:spMkLst>
        </pc:spChg>
        <pc:spChg chg="add mod">
          <ac:chgData name="kishan raj" userId="f01527b3f37e8415" providerId="LiveId" clId="{8A6E80EE-3C34-44C7-A487-05AF6942D425}" dt="2026-04-26T13:19:17.455" v="825" actId="20577"/>
          <ac:spMkLst>
            <pc:docMk/>
            <pc:sldMk cId="0" sldId="262"/>
            <ac:spMk id="22" creationId="{C49338EE-EF30-F04F-658E-7AADC0D57F00}"/>
          </ac:spMkLst>
        </pc:spChg>
        <pc:spChg chg="add mod">
          <ac:chgData name="kishan raj" userId="f01527b3f37e8415" providerId="LiveId" clId="{8A6E80EE-3C34-44C7-A487-05AF6942D425}" dt="2026-04-26T13:18:46.843" v="820" actId="255"/>
          <ac:spMkLst>
            <pc:docMk/>
            <pc:sldMk cId="0" sldId="262"/>
            <ac:spMk id="24" creationId="{31293EA9-B5E7-7C27-B3D7-6B116D3573E5}"/>
          </ac:spMkLst>
        </pc:spChg>
        <pc:spChg chg="del mod">
          <ac:chgData name="kishan raj" userId="f01527b3f37e8415" providerId="LiveId" clId="{8A6E80EE-3C34-44C7-A487-05AF6942D425}" dt="2026-04-26T13:04:15.722" v="732" actId="478"/>
          <ac:spMkLst>
            <pc:docMk/>
            <pc:sldMk cId="0" sldId="262"/>
            <ac:spMk id="139" creationId="{00000000-0000-0000-0000-000000000000}"/>
          </ac:spMkLst>
        </pc:spChg>
        <pc:spChg chg="del mod">
          <ac:chgData name="kishan raj" userId="f01527b3f37e8415" providerId="LiveId" clId="{8A6E80EE-3C34-44C7-A487-05AF6942D425}" dt="2026-04-26T13:04:19.453" v="734" actId="478"/>
          <ac:spMkLst>
            <pc:docMk/>
            <pc:sldMk cId="0" sldId="262"/>
            <ac:spMk id="141" creationId="{00000000-0000-0000-0000-000000000000}"/>
          </ac:spMkLst>
        </pc:spChg>
        <pc:picChg chg="add mod">
          <ac:chgData name="kishan raj" userId="f01527b3f37e8415" providerId="LiveId" clId="{8A6E80EE-3C34-44C7-A487-05AF6942D425}" dt="2026-04-26T13:12:36.741" v="771" actId="14100"/>
          <ac:picMkLst>
            <pc:docMk/>
            <pc:sldMk cId="0" sldId="262"/>
            <ac:picMk id="5" creationId="{D1950631-080F-783F-40E4-B9F3D4AB774B}"/>
          </ac:picMkLst>
        </pc:picChg>
        <pc:picChg chg="add del mod">
          <ac:chgData name="kishan raj" userId="f01527b3f37e8415" providerId="LiveId" clId="{8A6E80EE-3C34-44C7-A487-05AF6942D425}" dt="2026-04-26T13:06:27.149" v="751" actId="21"/>
          <ac:picMkLst>
            <pc:docMk/>
            <pc:sldMk cId="0" sldId="262"/>
            <ac:picMk id="7" creationId="{176035D8-B7C1-2F8D-B0F5-928675118F5B}"/>
          </ac:picMkLst>
        </pc:picChg>
        <pc:picChg chg="add del mod">
          <ac:chgData name="kishan raj" userId="f01527b3f37e8415" providerId="LiveId" clId="{8A6E80EE-3C34-44C7-A487-05AF6942D425}" dt="2026-04-26T13:06:16.856" v="750" actId="21"/>
          <ac:picMkLst>
            <pc:docMk/>
            <pc:sldMk cId="0" sldId="262"/>
            <ac:picMk id="9" creationId="{4C660F0C-11B9-21F5-8879-3C43E327ABF2}"/>
          </ac:picMkLst>
        </pc:picChg>
        <pc:picChg chg="add mod">
          <ac:chgData name="kishan raj" userId="f01527b3f37e8415" providerId="LiveId" clId="{8A6E80EE-3C34-44C7-A487-05AF6942D425}" dt="2026-04-26T13:12:55.022" v="775" actId="1076"/>
          <ac:picMkLst>
            <pc:docMk/>
            <pc:sldMk cId="0" sldId="262"/>
            <ac:picMk id="11" creationId="{FAE7DBFA-5860-83A2-0F17-DBEA9473E24E}"/>
          </ac:picMkLst>
        </pc:picChg>
        <pc:picChg chg="add del mod">
          <ac:chgData name="kishan raj" userId="f01527b3f37e8415" providerId="LiveId" clId="{8A6E80EE-3C34-44C7-A487-05AF6942D425}" dt="2026-04-26T13:12:21.774" v="769" actId="21"/>
          <ac:picMkLst>
            <pc:docMk/>
            <pc:sldMk cId="0" sldId="262"/>
            <ac:picMk id="13" creationId="{364FAD9E-D808-0AB1-DCCB-F65DFB9FC129}"/>
          </ac:picMkLst>
        </pc:picChg>
        <pc:picChg chg="add del mod">
          <ac:chgData name="kishan raj" userId="f01527b3f37e8415" providerId="LiveId" clId="{8A6E80EE-3C34-44C7-A487-05AF6942D425}" dt="2026-04-26T13:13:27.502" v="781" actId="21"/>
          <ac:picMkLst>
            <pc:docMk/>
            <pc:sldMk cId="0" sldId="262"/>
            <ac:picMk id="15" creationId="{364FAD9E-D808-0AB1-DCCB-F65DFB9FC129}"/>
          </ac:picMkLst>
        </pc:picChg>
        <pc:picChg chg="mod">
          <ac:chgData name="kishan raj" userId="f01527b3f37e8415" providerId="LiveId" clId="{8A6E80EE-3C34-44C7-A487-05AF6942D425}" dt="2026-04-26T13:15:54.202" v="794" actId="1076"/>
          <ac:picMkLst>
            <pc:docMk/>
            <pc:sldMk cId="0" sldId="262"/>
            <ac:picMk id="140" creationId="{00000000-0000-0000-0000-000000000000}"/>
          </ac:picMkLst>
        </pc:picChg>
      </pc:sldChg>
      <pc:sldChg chg="addSp delSp modSp mod">
        <pc:chgData name="kishan raj" userId="f01527b3f37e8415" providerId="LiveId" clId="{8A6E80EE-3C34-44C7-A487-05AF6942D425}" dt="2026-04-26T13:27:37.794" v="851" actId="2711"/>
        <pc:sldMkLst>
          <pc:docMk/>
          <pc:sldMk cId="0" sldId="263"/>
        </pc:sldMkLst>
        <pc:spChg chg="add mod">
          <ac:chgData name="kishan raj" userId="f01527b3f37e8415" providerId="LiveId" clId="{8A6E80EE-3C34-44C7-A487-05AF6942D425}" dt="2026-04-26T13:27:37.794" v="851" actId="2711"/>
          <ac:spMkLst>
            <pc:docMk/>
            <pc:sldMk cId="0" sldId="263"/>
            <ac:spMk id="5" creationId="{0044A50C-5C09-B6A4-E54F-BF0E05A55721}"/>
          </ac:spMkLst>
        </pc:spChg>
        <pc:spChg chg="mod">
          <ac:chgData name="kishan raj" userId="f01527b3f37e8415" providerId="LiveId" clId="{8A6E80EE-3C34-44C7-A487-05AF6942D425}" dt="2026-04-26T13:27:15.365" v="848" actId="1076"/>
          <ac:spMkLst>
            <pc:docMk/>
            <pc:sldMk cId="0" sldId="263"/>
            <ac:spMk id="145" creationId="{00000000-0000-0000-0000-000000000000}"/>
          </ac:spMkLst>
        </pc:spChg>
        <pc:spChg chg="del mod">
          <ac:chgData name="kishan raj" userId="f01527b3f37e8415" providerId="LiveId" clId="{8A6E80EE-3C34-44C7-A487-05AF6942D425}" dt="2026-04-26T13:25:05.826" v="833" actId="478"/>
          <ac:spMkLst>
            <pc:docMk/>
            <pc:sldMk cId="0" sldId="263"/>
            <ac:spMk id="147" creationId="{00000000-0000-0000-0000-000000000000}"/>
          </ac:spMkLst>
        </pc:spChg>
        <pc:picChg chg="add mod">
          <ac:chgData name="kishan raj" userId="f01527b3f37e8415" providerId="LiveId" clId="{8A6E80EE-3C34-44C7-A487-05AF6942D425}" dt="2026-04-26T13:25:39.515" v="840" actId="14100"/>
          <ac:picMkLst>
            <pc:docMk/>
            <pc:sldMk cId="0" sldId="263"/>
            <ac:picMk id="3" creationId="{7B92BD95-A558-7C7F-6F61-35D54254B103}"/>
          </ac:picMkLst>
        </pc:picChg>
      </pc:sldChg>
      <pc:sldChg chg="addSp delSp modSp mod">
        <pc:chgData name="kishan raj" userId="f01527b3f37e8415" providerId="LiveId" clId="{8A6E80EE-3C34-44C7-A487-05AF6942D425}" dt="2026-04-26T14:53:09.318" v="895" actId="1076"/>
        <pc:sldMkLst>
          <pc:docMk/>
          <pc:sldMk cId="0" sldId="264"/>
        </pc:sldMkLst>
        <pc:spChg chg="add mod">
          <ac:chgData name="kishan raj" userId="f01527b3f37e8415" providerId="LiveId" clId="{8A6E80EE-3C34-44C7-A487-05AF6942D425}" dt="2026-04-26T14:52:25.776" v="893" actId="207"/>
          <ac:spMkLst>
            <pc:docMk/>
            <pc:sldMk cId="0" sldId="264"/>
            <ac:spMk id="3" creationId="{E0122BC1-A42D-DC29-7766-21C2B2A3A4C4}"/>
          </ac:spMkLst>
        </pc:spChg>
        <pc:spChg chg="mod">
          <ac:chgData name="kishan raj" userId="f01527b3f37e8415" providerId="LiveId" clId="{8A6E80EE-3C34-44C7-A487-05AF6942D425}" dt="2026-04-26T14:53:09.318" v="895" actId="1076"/>
          <ac:spMkLst>
            <pc:docMk/>
            <pc:sldMk cId="0" sldId="264"/>
            <ac:spMk id="151" creationId="{00000000-0000-0000-0000-000000000000}"/>
          </ac:spMkLst>
        </pc:spChg>
        <pc:spChg chg="del">
          <ac:chgData name="kishan raj" userId="f01527b3f37e8415" providerId="LiveId" clId="{8A6E80EE-3C34-44C7-A487-05AF6942D425}" dt="2026-04-26T14:47:25.104" v="852" actId="478"/>
          <ac:spMkLst>
            <pc:docMk/>
            <pc:sldMk cId="0" sldId="264"/>
            <ac:spMk id="153" creationId="{00000000-0000-0000-0000-000000000000}"/>
          </ac:spMkLst>
        </pc:spChg>
      </pc:sldChg>
      <pc:sldChg chg="addSp delSp modSp mod">
        <pc:chgData name="kishan raj" userId="f01527b3f37e8415" providerId="LiveId" clId="{8A6E80EE-3C34-44C7-A487-05AF6942D425}" dt="2026-04-26T15:01:25.958" v="936" actId="115"/>
        <pc:sldMkLst>
          <pc:docMk/>
          <pc:sldMk cId="0" sldId="265"/>
        </pc:sldMkLst>
        <pc:spChg chg="add mod">
          <ac:chgData name="kishan raj" userId="f01527b3f37e8415" providerId="LiveId" clId="{8A6E80EE-3C34-44C7-A487-05AF6942D425}" dt="2026-04-26T15:01:10.581" v="935" actId="113"/>
          <ac:spMkLst>
            <pc:docMk/>
            <pc:sldMk cId="0" sldId="265"/>
            <ac:spMk id="3" creationId="{E9FC5DAB-88E7-EADE-23C4-C6598849C36F}"/>
          </ac:spMkLst>
        </pc:spChg>
        <pc:spChg chg="add del mod">
          <ac:chgData name="kishan raj" userId="f01527b3f37e8415" providerId="LiveId" clId="{8A6E80EE-3C34-44C7-A487-05AF6942D425}" dt="2026-04-26T15:01:25.958" v="936" actId="115"/>
          <ac:spMkLst>
            <pc:docMk/>
            <pc:sldMk cId="0" sldId="265"/>
            <ac:spMk id="157" creationId="{00000000-0000-0000-0000-000000000000}"/>
          </ac:spMkLst>
        </pc:spChg>
        <pc:spChg chg="add del mod">
          <ac:chgData name="kishan raj" userId="f01527b3f37e8415" providerId="LiveId" clId="{8A6E80EE-3C34-44C7-A487-05AF6942D425}" dt="2026-04-26T14:58:29.339" v="905" actId="47"/>
          <ac:spMkLst>
            <pc:docMk/>
            <pc:sldMk cId="0" sldId="265"/>
            <ac:spMk id="159" creationId="{00000000-0000-0000-0000-000000000000}"/>
          </ac:spMkLst>
        </pc:spChg>
      </pc:sldChg>
      <pc:sldChg chg="addSp delSp modSp mod">
        <pc:chgData name="kishan raj" userId="f01527b3f37e8415" providerId="LiveId" clId="{8A6E80EE-3C34-44C7-A487-05AF6942D425}" dt="2026-04-26T15:11:12.580" v="972" actId="12"/>
        <pc:sldMkLst>
          <pc:docMk/>
          <pc:sldMk cId="0" sldId="266"/>
        </pc:sldMkLst>
        <pc:spChg chg="add mod">
          <ac:chgData name="kishan raj" userId="f01527b3f37e8415" providerId="LiveId" clId="{8A6E80EE-3C34-44C7-A487-05AF6942D425}" dt="2026-04-26T15:11:12.580" v="972" actId="12"/>
          <ac:spMkLst>
            <pc:docMk/>
            <pc:sldMk cId="0" sldId="266"/>
            <ac:spMk id="5" creationId="{E5749539-0D51-5BB0-E735-170110607BFF}"/>
          </ac:spMkLst>
        </pc:spChg>
        <pc:spChg chg="mod">
          <ac:chgData name="kishan raj" userId="f01527b3f37e8415" providerId="LiveId" clId="{8A6E80EE-3C34-44C7-A487-05AF6942D425}" dt="2026-04-26T15:09:40.376" v="963" actId="115"/>
          <ac:spMkLst>
            <pc:docMk/>
            <pc:sldMk cId="0" sldId="266"/>
            <ac:spMk id="163" creationId="{00000000-0000-0000-0000-000000000000}"/>
          </ac:spMkLst>
        </pc:spChg>
        <pc:spChg chg="del mod">
          <ac:chgData name="kishan raj" userId="f01527b3f37e8415" providerId="LiveId" clId="{8A6E80EE-3C34-44C7-A487-05AF6942D425}" dt="2026-04-26T15:03:22.685" v="943"/>
          <ac:spMkLst>
            <pc:docMk/>
            <pc:sldMk cId="0" sldId="266"/>
            <ac:spMk id="165" creationId="{00000000-0000-0000-0000-000000000000}"/>
          </ac:spMkLst>
        </pc:spChg>
        <pc:picChg chg="add mod">
          <ac:chgData name="kishan raj" userId="f01527b3f37e8415" providerId="LiveId" clId="{8A6E80EE-3C34-44C7-A487-05AF6942D425}" dt="2026-04-26T15:08:00.181" v="952" actId="14100"/>
          <ac:picMkLst>
            <pc:docMk/>
            <pc:sldMk cId="0" sldId="266"/>
            <ac:picMk id="3" creationId="{C431020E-A56E-94AF-84C3-EB9015AB433C}"/>
          </ac:picMkLst>
        </pc:picChg>
      </pc:sldChg>
      <pc:sldChg chg="addSp delSp modSp mod">
        <pc:chgData name="kishan raj" userId="f01527b3f37e8415" providerId="LiveId" clId="{8A6E80EE-3C34-44C7-A487-05AF6942D425}" dt="2026-04-26T15:15:04.726" v="1020" actId="115"/>
        <pc:sldMkLst>
          <pc:docMk/>
          <pc:sldMk cId="0" sldId="267"/>
        </pc:sldMkLst>
        <pc:spChg chg="add mod">
          <ac:chgData name="kishan raj" userId="f01527b3f37e8415" providerId="LiveId" clId="{8A6E80EE-3C34-44C7-A487-05AF6942D425}" dt="2026-04-26T15:15:04.726" v="1020" actId="115"/>
          <ac:spMkLst>
            <pc:docMk/>
            <pc:sldMk cId="0" sldId="267"/>
            <ac:spMk id="3" creationId="{0D88FDE5-C9AF-4A59-D15B-33C1AF107FA1}"/>
          </ac:spMkLst>
        </pc:spChg>
        <pc:spChg chg="mod">
          <ac:chgData name="kishan raj" userId="f01527b3f37e8415" providerId="LiveId" clId="{8A6E80EE-3C34-44C7-A487-05AF6942D425}" dt="2026-04-26T15:13:39.913" v="1007" actId="1076"/>
          <ac:spMkLst>
            <pc:docMk/>
            <pc:sldMk cId="0" sldId="267"/>
            <ac:spMk id="169" creationId="{00000000-0000-0000-0000-000000000000}"/>
          </ac:spMkLst>
        </pc:spChg>
        <pc:spChg chg="del">
          <ac:chgData name="kishan raj" userId="f01527b3f37e8415" providerId="LiveId" clId="{8A6E80EE-3C34-44C7-A487-05AF6942D425}" dt="2026-04-26T15:13:20.131" v="1004" actId="478"/>
          <ac:spMkLst>
            <pc:docMk/>
            <pc:sldMk cId="0" sldId="267"/>
            <ac:spMk id="171" creationId="{00000000-0000-0000-0000-000000000000}"/>
          </ac:spMkLst>
        </pc:spChg>
      </pc:sldChg>
      <pc:sldChg chg="del">
        <pc:chgData name="kishan raj" userId="f01527b3f37e8415" providerId="LiveId" clId="{8A6E80EE-3C34-44C7-A487-05AF6942D425}" dt="2026-04-26T15:15:25.696" v="1023" actId="2696"/>
        <pc:sldMkLst>
          <pc:docMk/>
          <pc:sldMk cId="0" sldId="269"/>
        </pc:sldMkLst>
      </pc:sldChg>
      <pc:sldChg chg="ord modNotes">
        <pc:chgData name="kishan raj" userId="f01527b3f37e8415" providerId="LiveId" clId="{8A6E80EE-3C34-44C7-A487-05AF6942D425}" dt="2026-04-26T15:15:18.065" v="1022"/>
        <pc:sldMkLst>
          <pc:docMk/>
          <pc:sldMk cId="0"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c07f7ad1a1_2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g3c07f7ad1a1_2_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c07f7ad1a1_2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g3c07f7ad1a1_2_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c07f7ad1a1_2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7" name="Google Shape;137;g3c07f7ad1a1_2_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c07f7ad1a1_2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g3c07f7ad1a1_2_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c07f7ad1a1_2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 name="Google Shape;155;g3c07f7ad1a1_2_1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c07f7ad1a1_2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3c07f7ad1a1_2_1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5"/>
          <p:cNvSpPr txBox="1"/>
          <p:nvPr/>
        </p:nvSpPr>
        <p:spPr>
          <a:xfrm>
            <a:off x="436625" y="881025"/>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4000"/>
              <a:buFont typeface="Arial"/>
              <a:buNone/>
            </a:pPr>
            <a:r>
              <a:rPr lang="en-GB" sz="4000" b="1" i="0" u="none" strike="noStrike" cap="none">
                <a:solidFill>
                  <a:schemeClr val="accent1"/>
                </a:solidFill>
                <a:latin typeface="Google Sans"/>
                <a:ea typeface="Google Sans"/>
                <a:cs typeface="Google Sans"/>
                <a:sym typeface="Google Sans"/>
              </a:rPr>
              <a:t>Guidelines</a:t>
            </a:r>
            <a:endParaRPr sz="4000" b="1" i="0" u="none" strike="noStrike" cap="none">
              <a:solidFill>
                <a:schemeClr val="accent1"/>
              </a:solidFill>
              <a:latin typeface="Google Sans"/>
              <a:ea typeface="Google Sans"/>
              <a:cs typeface="Google Sans"/>
              <a:sym typeface="Google Sans"/>
            </a:endParaRPr>
          </a:p>
        </p:txBody>
      </p:sp>
      <p:sp>
        <p:nvSpPr>
          <p:cNvPr id="100" name="Google Shape;100;p25"/>
          <p:cNvSpPr txBox="1"/>
          <p:nvPr/>
        </p:nvSpPr>
        <p:spPr>
          <a:xfrm>
            <a:off x="609900" y="1711275"/>
            <a:ext cx="7924200" cy="2551200"/>
          </a:xfrm>
          <a:prstGeom prst="rect">
            <a:avLst/>
          </a:prstGeom>
          <a:noFill/>
          <a:ln>
            <a:noFill/>
          </a:ln>
        </p:spPr>
        <p:txBody>
          <a:bodyPr spcFirstLastPara="1" wrap="square" lIns="91425" tIns="91425" rIns="91425" bIns="91425" anchor="t" anchorCtr="0">
            <a:noAutofit/>
          </a:bodyPr>
          <a:lstStyle/>
          <a:p>
            <a:pPr marL="457200" marR="0" lvl="0" indent="-323850" algn="l" rtl="0">
              <a:lnSpc>
                <a:spcPct val="100000"/>
              </a:lnSpc>
              <a:spcBef>
                <a:spcPts val="0"/>
              </a:spcBef>
              <a:spcAft>
                <a:spcPts val="0"/>
              </a:spcAft>
              <a:buClr>
                <a:srgbClr val="434343"/>
              </a:buClr>
              <a:buSzPts val="1500"/>
              <a:buFont typeface="Google Sans"/>
              <a:buChar char="●"/>
            </a:pPr>
            <a:r>
              <a:rPr lang="en-GB" sz="1500" b="0" i="0" u="none" strike="noStrike" cap="none">
                <a:solidFill>
                  <a:srgbClr val="434343"/>
                </a:solidFill>
                <a:latin typeface="Google Sans"/>
                <a:ea typeface="Google Sans"/>
                <a:cs typeface="Google Sans"/>
                <a:sym typeface="Google Sans"/>
              </a:rPr>
              <a:t>Kindly use the given template for submitting your </a:t>
            </a:r>
            <a:r>
              <a:rPr lang="en-GB" sz="1500">
                <a:solidFill>
                  <a:srgbClr val="434343"/>
                </a:solidFill>
                <a:latin typeface="Google Sans"/>
                <a:ea typeface="Google Sans"/>
                <a:cs typeface="Google Sans"/>
                <a:sym typeface="Google Sans"/>
              </a:rPr>
              <a:t>prototype</a:t>
            </a:r>
            <a:r>
              <a:rPr lang="en-GB" sz="1500" b="0" i="0" u="none" strike="noStrike" cap="none">
                <a:solidFill>
                  <a:srgbClr val="434343"/>
                </a:solidFill>
                <a:latin typeface="Google Sans"/>
                <a:ea typeface="Google Sans"/>
                <a:cs typeface="Google Sans"/>
                <a:sym typeface="Google Sans"/>
              </a:rPr>
              <a:t>(Make a copy of the template)</a:t>
            </a:r>
            <a:endParaRPr sz="1500" b="0" i="0" u="none" strike="noStrike" cap="none">
              <a:solidFill>
                <a:srgbClr val="434343"/>
              </a:solidFill>
              <a:latin typeface="Google Sans"/>
              <a:ea typeface="Google Sans"/>
              <a:cs typeface="Google Sans"/>
              <a:sym typeface="Google Sans"/>
            </a:endParaRPr>
          </a:p>
          <a:p>
            <a:pPr marL="457200" marR="0" lvl="0" indent="-323850" algn="l" rtl="0">
              <a:lnSpc>
                <a:spcPct val="100000"/>
              </a:lnSpc>
              <a:spcBef>
                <a:spcPts val="0"/>
              </a:spcBef>
              <a:spcAft>
                <a:spcPts val="0"/>
              </a:spcAft>
              <a:buClr>
                <a:srgbClr val="434343"/>
              </a:buClr>
              <a:buSzPts val="1500"/>
              <a:buFont typeface="Google Sans"/>
              <a:buChar char="●"/>
            </a:pPr>
            <a:r>
              <a:rPr lang="en-GB" sz="1500" b="0" i="0" u="none" strike="noStrike" cap="none">
                <a:solidFill>
                  <a:srgbClr val="434343"/>
                </a:solidFill>
                <a:latin typeface="Google Sans"/>
                <a:ea typeface="Google Sans"/>
                <a:cs typeface="Google Sans"/>
                <a:sym typeface="Google Sans"/>
              </a:rPr>
              <a:t>One team is only required to submit one project.</a:t>
            </a:r>
            <a:endParaRPr sz="1500" b="0" i="0" u="none" strike="noStrike" cap="none">
              <a:solidFill>
                <a:srgbClr val="434343"/>
              </a:solidFill>
              <a:latin typeface="Google Sans"/>
              <a:ea typeface="Google Sans"/>
              <a:cs typeface="Google Sans"/>
              <a:sym typeface="Google Sans"/>
            </a:endParaRPr>
          </a:p>
          <a:p>
            <a:pPr marL="457200" marR="0" lvl="0" indent="-323850" algn="l" rtl="0">
              <a:lnSpc>
                <a:spcPct val="100000"/>
              </a:lnSpc>
              <a:spcBef>
                <a:spcPts val="0"/>
              </a:spcBef>
              <a:spcAft>
                <a:spcPts val="0"/>
              </a:spcAft>
              <a:buClr>
                <a:srgbClr val="434343"/>
              </a:buClr>
              <a:buSzPts val="1500"/>
              <a:buFont typeface="Google Sans"/>
              <a:buChar char="●"/>
            </a:pPr>
            <a:r>
              <a:rPr lang="en-GB" sz="1500">
                <a:solidFill>
                  <a:srgbClr val="434343"/>
                </a:solidFill>
                <a:latin typeface="Google Sans"/>
                <a:ea typeface="Google Sans"/>
                <a:cs typeface="Google Sans"/>
                <a:sym typeface="Google Sans"/>
              </a:rPr>
              <a:t>Follow this template while preparing your presentation.</a:t>
            </a:r>
            <a:endParaRPr sz="1500" b="0" i="0" u="none" strike="noStrike" cap="none">
              <a:solidFill>
                <a:srgbClr val="434343"/>
              </a:solidFill>
              <a:latin typeface="Google Sans"/>
              <a:ea typeface="Google Sans"/>
              <a:cs typeface="Google Sans"/>
              <a:sym typeface="Google Sans"/>
            </a:endParaRPr>
          </a:p>
          <a:p>
            <a:pPr marL="457200" marR="0" lvl="0" indent="-323850" algn="l" rtl="0">
              <a:lnSpc>
                <a:spcPct val="100000"/>
              </a:lnSpc>
              <a:spcBef>
                <a:spcPts val="0"/>
              </a:spcBef>
              <a:spcAft>
                <a:spcPts val="0"/>
              </a:spcAft>
              <a:buClr>
                <a:srgbClr val="434343"/>
              </a:buClr>
              <a:buSzPts val="1500"/>
              <a:buFont typeface="Google Sans"/>
              <a:buChar char="●"/>
            </a:pPr>
            <a:r>
              <a:rPr lang="en-GB" sz="1500" b="0" i="0" u="none" strike="noStrike" cap="none">
                <a:solidFill>
                  <a:srgbClr val="434343"/>
                </a:solidFill>
                <a:latin typeface="Google Sans"/>
                <a:ea typeface="Google Sans"/>
                <a:cs typeface="Google Sans"/>
                <a:sym typeface="Google Sans"/>
              </a:rPr>
              <a:t>You are welcome to add as many POCs and design concepts to support your project.</a:t>
            </a:r>
            <a:endParaRPr sz="1500" b="0" i="0" u="none" strike="noStrike" cap="none">
              <a:solidFill>
                <a:srgbClr val="434343"/>
              </a:solidFill>
              <a:latin typeface="Google Sans"/>
              <a:ea typeface="Google Sans"/>
              <a:cs typeface="Google Sans"/>
              <a:sym typeface="Google Sans"/>
            </a:endParaRPr>
          </a:p>
          <a:p>
            <a:pPr marL="457200" marR="0" lvl="0" indent="-323850" algn="l" rtl="0">
              <a:lnSpc>
                <a:spcPct val="100000"/>
              </a:lnSpc>
              <a:spcBef>
                <a:spcPts val="0"/>
              </a:spcBef>
              <a:spcAft>
                <a:spcPts val="0"/>
              </a:spcAft>
              <a:buClr>
                <a:srgbClr val="434343"/>
              </a:buClr>
              <a:buSzPts val="1500"/>
              <a:buFont typeface="Google Sans"/>
              <a:buChar char="●"/>
            </a:pPr>
            <a:r>
              <a:rPr lang="en-GB" sz="1500" b="0" i="0" u="none" strike="noStrike" cap="none">
                <a:solidFill>
                  <a:srgbClr val="434343"/>
                </a:solidFill>
                <a:latin typeface="Google Sans"/>
                <a:ea typeface="Google Sans"/>
                <a:cs typeface="Google Sans"/>
                <a:sym typeface="Google Sans"/>
              </a:rPr>
              <a:t>The project should be feasible and the team members should be capable enough, to come up with the fully functioning prototype of the same idea, if required.</a:t>
            </a:r>
            <a:endParaRPr sz="1500" b="0" i="0" u="none" strike="noStrike" cap="none">
              <a:solidFill>
                <a:srgbClr val="434343"/>
              </a:solidFill>
              <a:latin typeface="Google Sans"/>
              <a:ea typeface="Google Sans"/>
              <a:cs typeface="Google Sans"/>
              <a:sym typeface="Google Sans"/>
            </a:endParaRPr>
          </a:p>
          <a:p>
            <a:pPr marL="457200" marR="0" lvl="0" indent="-323850" algn="l" rtl="0">
              <a:lnSpc>
                <a:spcPct val="100000"/>
              </a:lnSpc>
              <a:spcBef>
                <a:spcPts val="0"/>
              </a:spcBef>
              <a:spcAft>
                <a:spcPts val="0"/>
              </a:spcAft>
              <a:buClr>
                <a:srgbClr val="434343"/>
              </a:buClr>
              <a:buSzPts val="1500"/>
              <a:buFont typeface="Google Sans"/>
              <a:buChar char="●"/>
            </a:pPr>
            <a:r>
              <a:rPr lang="en-GB" sz="1500" b="0" i="0" u="none" strike="noStrike" cap="none">
                <a:solidFill>
                  <a:srgbClr val="434343"/>
                </a:solidFill>
                <a:latin typeface="Google Sans"/>
                <a:ea typeface="Google Sans"/>
                <a:cs typeface="Google Sans"/>
                <a:sym typeface="Google Sans"/>
              </a:rPr>
              <a:t>In case of queries, kindly reach out to us at </a:t>
            </a:r>
            <a:r>
              <a:rPr lang="en-GB" sz="1500">
                <a:solidFill>
                  <a:srgbClr val="434343"/>
                </a:solidFill>
                <a:latin typeface="Google Sans"/>
                <a:ea typeface="Google Sans"/>
                <a:cs typeface="Google Sans"/>
                <a:sym typeface="Google Sans"/>
              </a:rPr>
              <a:t>solutionchallengesupport@hack2skill.com</a:t>
            </a:r>
            <a:endParaRPr sz="1500" b="0" i="0" u="none" strike="noStrike" cap="none">
              <a:solidFill>
                <a:srgbClr val="434343"/>
              </a:solidFill>
              <a:latin typeface="Google Sans"/>
              <a:ea typeface="Google Sans"/>
              <a:cs typeface="Google Sans"/>
              <a:sym typeface="Google Sans"/>
            </a:endParaRPr>
          </a:p>
        </p:txBody>
      </p:sp>
      <p:pic>
        <p:nvPicPr>
          <p:cNvPr id="101" name="Google Shape;101;p25" title="frameeeee.png"/>
          <p:cNvPicPr preferRelativeResize="0"/>
          <p:nvPr/>
        </p:nvPicPr>
        <p:blipFill>
          <a:blip r:embed="rId3">
            <a:alphaModFix/>
          </a:blip>
          <a:stretch>
            <a:fillRect/>
          </a:stretch>
        </p:blipFill>
        <p:spPr>
          <a:xfrm>
            <a:off x="0" y="0"/>
            <a:ext cx="9144003" cy="589347"/>
          </a:xfrm>
          <a:prstGeom prst="rect">
            <a:avLst/>
          </a:prstGeom>
          <a:noFill/>
          <a:ln>
            <a:noFill/>
          </a:ln>
        </p:spPr>
      </p:pic>
      <p:sp>
        <p:nvSpPr>
          <p:cNvPr id="102" name="Google Shape;102;p25"/>
          <p:cNvSpPr txBox="1"/>
          <p:nvPr/>
        </p:nvSpPr>
        <p:spPr>
          <a:xfrm>
            <a:off x="65700" y="3897125"/>
            <a:ext cx="90126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500" b="1">
                <a:solidFill>
                  <a:srgbClr val="FF0000"/>
                </a:solidFill>
                <a:latin typeface="Google Sans"/>
                <a:ea typeface="Google Sans"/>
                <a:cs typeface="Google Sans"/>
                <a:sym typeface="Google Sans"/>
              </a:rPr>
              <a:t>Note:</a:t>
            </a:r>
            <a:r>
              <a:rPr lang="en-GB" sz="1500">
                <a:solidFill>
                  <a:srgbClr val="434343"/>
                </a:solidFill>
                <a:latin typeface="Google Sans"/>
                <a:ea typeface="Google Sans"/>
                <a:cs typeface="Google Sans"/>
                <a:sym typeface="Google Sans"/>
              </a:rPr>
              <a:t> Prototype must include cloud deployment and use at least one Google AI model or service (e.g., Gemini) as part of the solution.</a:t>
            </a:r>
            <a:endParaRPr sz="1500">
              <a:solidFill>
                <a:srgbClr val="434343"/>
              </a:solidFill>
              <a:latin typeface="Google Sans"/>
              <a:ea typeface="Google Sans"/>
              <a:cs typeface="Google Sans"/>
              <a:sym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3" y="1883113"/>
            <a:ext cx="9144000" cy="2694624"/>
          </a:xfrm>
          <a:prstGeom prst="rect">
            <a:avLst/>
          </a:prstGeom>
          <a:noFill/>
          <a:ln>
            <a:noFill/>
          </a:ln>
        </p:spPr>
      </p:pic>
      <p:sp>
        <p:nvSpPr>
          <p:cNvPr id="109" name="Google Shape;109;p26"/>
          <p:cNvSpPr txBox="1"/>
          <p:nvPr/>
        </p:nvSpPr>
        <p:spPr>
          <a:xfrm>
            <a:off x="72300" y="2078549"/>
            <a:ext cx="8760000" cy="2003700"/>
          </a:xfrm>
          <a:prstGeom prst="rect">
            <a:avLst/>
          </a:prstGeom>
          <a:noFill/>
          <a:ln>
            <a:noFill/>
          </a:ln>
        </p:spPr>
        <p:txBody>
          <a:bodyPr spcFirstLastPara="1" wrap="square" lIns="91425" tIns="91425" rIns="91425" bIns="91425" anchor="t" anchorCtr="0">
            <a:noAutofit/>
          </a:bodyPr>
          <a:lstStyle/>
          <a:p>
            <a:pPr>
              <a:defRPr sz="1800"/>
            </a:pPr>
            <a:r>
              <a:rPr lang="en-IN" b="1" dirty="0"/>
              <a:t>                                                   </a:t>
            </a:r>
            <a:r>
              <a:rPr sz="2000" b="1" u="sng" dirty="0"/>
              <a:t>Team Details</a:t>
            </a:r>
            <a:endParaRPr lang="en-IN" sz="2000" b="1" u="sng" dirty="0"/>
          </a:p>
          <a:p>
            <a:pPr>
              <a:defRPr sz="1800"/>
            </a:pPr>
            <a:r>
              <a:rPr b="1" dirty="0"/>
              <a:t>Team name</a:t>
            </a:r>
            <a:r>
              <a:rPr sz="1600" b="1" dirty="0"/>
              <a:t>: </a:t>
            </a:r>
            <a:r>
              <a:rPr sz="1600" dirty="0" err="1"/>
              <a:t>RescueGrid</a:t>
            </a:r>
            <a:r>
              <a:rPr sz="1600" dirty="0"/>
              <a:t> </a:t>
            </a:r>
            <a:endParaRPr lang="en-IN" sz="1600" dirty="0"/>
          </a:p>
          <a:p>
            <a:pPr>
              <a:defRPr sz="1800"/>
            </a:pPr>
            <a:r>
              <a:rPr lang="en-IN" sz="1600" b="1" dirty="0"/>
              <a:t>Team leader name: </a:t>
            </a:r>
            <a:r>
              <a:rPr lang="en-IN" dirty="0"/>
              <a:t>Kumari Suhana</a:t>
            </a:r>
          </a:p>
          <a:p>
            <a:pPr>
              <a:defRPr sz="1800"/>
            </a:pPr>
            <a:endParaRPr lang="en-IN" sz="1600" dirty="0"/>
          </a:p>
          <a:p>
            <a:pPr>
              <a:defRPr sz="1800"/>
            </a:pPr>
            <a:r>
              <a:rPr lang="en-US" sz="1600" b="1" dirty="0"/>
              <a:t>Problem Statement</a:t>
            </a:r>
            <a:r>
              <a:rPr lang="en-US" sz="1600" b="1" dirty="0">
                <a:solidFill>
                  <a:schemeClr val="accent5">
                    <a:lumMod val="75000"/>
                  </a:schemeClr>
                </a:solidFill>
                <a:latin typeface="Aptos Display" panose="020B0004020202020204" pitchFamily="34" charset="0"/>
              </a:rPr>
              <a:t>: </a:t>
            </a:r>
            <a:r>
              <a:rPr lang="en-US" sz="1600" b="1" dirty="0">
                <a:solidFill>
                  <a:schemeClr val="accent5">
                    <a:lumMod val="75000"/>
                  </a:schemeClr>
                </a:solidFill>
                <a:latin typeface="Aptos Display" panose="020B0004020202020204" pitchFamily="34" charset="0"/>
                <a:ea typeface="Cambria" panose="02040503050406030204" pitchFamily="18" charset="0"/>
              </a:rPr>
              <a:t>Modern emergency management faces a dual point of failure during severe crises: fragile cloud infrastructure that collapses under blackout conditions, and human dispatchers who become overwhelmed by chaotic, multi-lingual distress signals. There is a critical technological gap in bridging raw human panic at the edge of a network, and instantly synthesizing it into prioritized, actionable deployment logistics for first responders without depending on vulnerable backend servers.</a:t>
            </a:r>
          </a:p>
          <a:p>
            <a:pPr>
              <a:defRPr sz="1800"/>
            </a:pPr>
            <a:endParaRPr sz="1600" dirty="0"/>
          </a:p>
        </p:txBody>
      </p:sp>
      <p:pic>
        <p:nvPicPr>
          <p:cNvPr id="110" name="Google Shape;110;p26" title="Frame 96.png"/>
          <p:cNvPicPr preferRelativeResize="0"/>
          <p:nvPr/>
        </p:nvPicPr>
        <p:blipFill rotWithShape="1">
          <a:blip r:embed="rId4">
            <a:alphaModFix/>
          </a:blip>
          <a:srcRect/>
          <a:stretch/>
        </p:blipFill>
        <p:spPr>
          <a:xfrm>
            <a:off x="3" y="-22869"/>
            <a:ext cx="9143997" cy="2003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2400" b="1" u="sng" dirty="0">
                <a:latin typeface="Calibri" panose="020F0502020204030204" pitchFamily="34" charset="0"/>
                <a:ea typeface="Calibri" panose="020F0502020204030204" pitchFamily="34" charset="0"/>
                <a:cs typeface="Calibri" panose="020F0502020204030204" pitchFamily="34" charset="0"/>
                <a:sym typeface="Google Sans"/>
              </a:rPr>
              <a:t>RESCUE GRID’S SOLUTION</a:t>
            </a:r>
            <a:r>
              <a:rPr lang="en-IN" sz="1800" dirty="0">
                <a:latin typeface="Google Sans"/>
                <a:ea typeface="Google Sans"/>
                <a:cs typeface="Google Sans"/>
                <a:sym typeface="Google Sans"/>
              </a:rPr>
              <a:t>:</a:t>
            </a:r>
            <a:endParaRPr sz="1800" b="0" i="0" u="none" strike="noStrike" cap="none" dirty="0">
              <a:solidFill>
                <a:srgbClr val="000000"/>
              </a:solidFill>
              <a:latin typeface="Google Sans"/>
              <a:ea typeface="Google Sans"/>
              <a:cs typeface="Google Sans"/>
              <a:sym typeface="Google Sans"/>
            </a:endParaRP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
        <p:nvSpPr>
          <p:cNvPr id="117" name="TextBox 116"/>
          <p:cNvSpPr txBox="1"/>
          <p:nvPr/>
        </p:nvSpPr>
        <p:spPr>
          <a:xfrm>
            <a:off x="914400" y="1371600"/>
            <a:ext cx="7315200" cy="2893100"/>
          </a:xfrm>
          <a:prstGeom prst="rect">
            <a:avLst/>
          </a:prstGeom>
          <a:noFill/>
        </p:spPr>
        <p:txBody>
          <a:bodyPr wrap="square">
            <a:spAutoFit/>
          </a:bodyPr>
          <a:lstStyle/>
          <a:p>
            <a:pPr marL="285750" indent="-285750">
              <a:buFont typeface="Wingdings" panose="05000000000000000000" pitchFamily="2" charset="2"/>
              <a:buChar char="Ø"/>
            </a:pPr>
            <a:r>
              <a:rPr lang="en-US" b="1" dirty="0" err="1">
                <a:solidFill>
                  <a:schemeClr val="accent5">
                    <a:lumMod val="75000"/>
                  </a:schemeClr>
                </a:solidFill>
                <a:latin typeface="Aptos Display" panose="020B0004020202020204" pitchFamily="34" charset="0"/>
              </a:rPr>
              <a:t>RescueGrid</a:t>
            </a:r>
            <a:r>
              <a:rPr lang="en-US" b="1" dirty="0">
                <a:solidFill>
                  <a:schemeClr val="accent5">
                    <a:lumMod val="75000"/>
                  </a:schemeClr>
                </a:solidFill>
                <a:latin typeface="Aptos Display" panose="020B0004020202020204" pitchFamily="34" charset="0"/>
              </a:rPr>
              <a:t> A.I.D.A. is a "Zero-Infrastructure" tactical web dashboard that eliminates these dual points of failure using serverless edge-computing and Google Gemini 2.5 Flash.</a:t>
            </a:r>
          </a:p>
          <a:p>
            <a:pPr marL="285750" indent="-285750">
              <a:buFont typeface="Wingdings" panose="05000000000000000000" pitchFamily="2" charset="2"/>
              <a:buChar char="Ø"/>
            </a:pPr>
            <a:endParaRPr lang="en-US" dirty="0">
              <a:solidFill>
                <a:schemeClr val="accent5">
                  <a:lumMod val="75000"/>
                </a:schemeClr>
              </a:solidFill>
              <a:latin typeface="Aptos Display" panose="020B0004020202020204" pitchFamily="34" charset="0"/>
            </a:endParaRPr>
          </a:p>
          <a:p>
            <a:pPr marL="285750" indent="-285750">
              <a:buFont typeface="Wingdings" panose="05000000000000000000" pitchFamily="2" charset="2"/>
              <a:buChar char="Ø"/>
            </a:pPr>
            <a:r>
              <a:rPr lang="en-US" b="1" dirty="0">
                <a:solidFill>
                  <a:schemeClr val="accent5">
                    <a:lumMod val="75000"/>
                  </a:schemeClr>
                </a:solidFill>
                <a:latin typeface="Aptos Display" panose="020B0004020202020204" pitchFamily="34" charset="0"/>
              </a:rPr>
              <a:t>First, it guarantees up-time during severe blackouts by deploying as an offline-capable Progressive Web App (PWA). It completely bypasses vulnerable centralized databases, processing data natively on the client device.</a:t>
            </a:r>
          </a:p>
          <a:p>
            <a:pPr marL="285750" indent="-285750">
              <a:buFont typeface="Wingdings" panose="05000000000000000000" pitchFamily="2" charset="2"/>
              <a:buChar char="Ø"/>
            </a:pPr>
            <a:endParaRPr lang="en-US" dirty="0">
              <a:solidFill>
                <a:schemeClr val="accent5">
                  <a:lumMod val="75000"/>
                </a:schemeClr>
              </a:solidFill>
              <a:latin typeface="Aptos Display" panose="020B0004020202020204" pitchFamily="34" charset="0"/>
            </a:endParaRPr>
          </a:p>
          <a:p>
            <a:pPr marL="285750" indent="-285750">
              <a:buFont typeface="Wingdings" panose="05000000000000000000" pitchFamily="2" charset="2"/>
              <a:buChar char="Ø"/>
            </a:pPr>
            <a:r>
              <a:rPr lang="en-US" b="1" dirty="0">
                <a:solidFill>
                  <a:schemeClr val="accent5">
                    <a:lumMod val="75000"/>
                  </a:schemeClr>
                </a:solidFill>
                <a:latin typeface="Aptos Display" panose="020B0004020202020204" pitchFamily="34" charset="0"/>
              </a:rPr>
              <a:t>Second, it permanently removes the human dispatcher bottleneck by routing all incoming distress signals directly into Gemini AI. The system immediately ingests, translates, and synthesizes chaotic, multi-lingual human panic from the edge natively, mathematically structuring it into optimized deployment constraints and map coordinates in milliseconds—without requiring human oversight.</a:t>
            </a:r>
            <a:endParaRPr lang="en-US" dirty="0">
              <a:solidFill>
                <a:schemeClr val="accent5">
                  <a:lumMod val="75000"/>
                </a:schemeClr>
              </a:solidFill>
              <a:latin typeface="Aptos Display" panose="020B0004020202020204" pitchFamily="34" charset="0"/>
            </a:endParaRPr>
          </a:p>
          <a:p>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79850" y="528618"/>
            <a:ext cx="8784300" cy="1419300"/>
          </a:xfrm>
          <a:prstGeom prst="rect">
            <a:avLst/>
          </a:prstGeom>
          <a:noFill/>
          <a:ln>
            <a:noFill/>
          </a:ln>
        </p:spPr>
        <p:txBody>
          <a:bodyPr spcFirstLastPara="1" wrap="square" lIns="91425" tIns="91425" rIns="91425" bIns="91425" anchor="t" anchorCtr="0">
            <a:noAutofit/>
          </a:bodyPr>
          <a:lstStyle/>
          <a:p>
            <a:pPr algn="ctr"/>
            <a:r>
              <a:rPr lang="en-US" sz="1600" b="1" u="sng" dirty="0"/>
              <a:t>OPPORTUNITIES</a:t>
            </a:r>
          </a:p>
          <a:p>
            <a:endParaRPr lang="en-US" sz="1600" b="1" dirty="0"/>
          </a:p>
          <a:p>
            <a:pPr marL="342900" indent="-342900">
              <a:buAutoNum type="alphaUcPeriod"/>
            </a:pPr>
            <a:r>
              <a:rPr lang="en-US" b="1" dirty="0"/>
              <a:t>How different is it from any of the other existing ideas?</a:t>
            </a:r>
            <a:endParaRPr lang="en-US" dirty="0"/>
          </a:p>
          <a:p>
            <a:pPr marL="171450" indent="-171450">
              <a:buFont typeface="Wingdings" panose="05000000000000000000" pitchFamily="2" charset="2"/>
              <a:buChar char="Ø"/>
            </a:pPr>
            <a:r>
              <a:rPr lang="en-US" sz="1200" b="1" dirty="0">
                <a:solidFill>
                  <a:schemeClr val="accent5">
                    <a:lumMod val="75000"/>
                  </a:schemeClr>
                </a:solidFill>
                <a:latin typeface="Aptos Display" panose="020B0004020202020204" pitchFamily="34" charset="0"/>
              </a:rPr>
              <a:t>Traditional emergency systems rely on fragile, centralized cloud databases and human operators who quickly become overwhelmed during disasters. </a:t>
            </a:r>
            <a:r>
              <a:rPr lang="en-US" sz="1200" b="1" dirty="0" err="1">
                <a:solidFill>
                  <a:schemeClr val="accent5">
                    <a:lumMod val="75000"/>
                  </a:schemeClr>
                </a:solidFill>
                <a:latin typeface="Aptos Display" panose="020B0004020202020204" pitchFamily="34" charset="0"/>
              </a:rPr>
              <a:t>RescueGrid</a:t>
            </a:r>
            <a:r>
              <a:rPr lang="en-US" sz="1200" b="1" dirty="0">
                <a:solidFill>
                  <a:schemeClr val="accent5">
                    <a:lumMod val="75000"/>
                  </a:schemeClr>
                </a:solidFill>
                <a:latin typeface="Aptos Display" panose="020B0004020202020204" pitchFamily="34" charset="0"/>
              </a:rPr>
              <a:t> is a 100% serverless, zero-infrastructure Edge application. Instead of depending on backend servers that cross-fail during blackouts, our Progressive Web App (PWA) handles logic directly on the client's device. We completely bypass the human language barrier by using Google Gemini AI to natively process and translate distress signals without human intervention.</a:t>
            </a:r>
          </a:p>
          <a:p>
            <a:r>
              <a:rPr lang="en-US" b="1" dirty="0"/>
              <a:t>B. How will it be able to solve the problem?</a:t>
            </a:r>
            <a:endParaRPr lang="en-US" dirty="0"/>
          </a:p>
          <a:p>
            <a:pPr marL="171450" indent="-171450">
              <a:buFont typeface="Wingdings" panose="05000000000000000000" pitchFamily="2" charset="2"/>
              <a:buChar char="Ø"/>
            </a:pPr>
            <a:r>
              <a:rPr lang="en-US" sz="1200" b="1" dirty="0">
                <a:solidFill>
                  <a:schemeClr val="accent5">
                    <a:lumMod val="75000"/>
                  </a:schemeClr>
                </a:solidFill>
                <a:latin typeface="Aptos Display" panose="020B0004020202020204" pitchFamily="34" charset="0"/>
              </a:rPr>
              <a:t>By integrating Google Gemini 2.5 Flash, </a:t>
            </a:r>
            <a:r>
              <a:rPr lang="en-US" sz="1200" b="1" dirty="0" err="1">
                <a:solidFill>
                  <a:schemeClr val="accent5">
                    <a:lumMod val="75000"/>
                  </a:schemeClr>
                </a:solidFill>
                <a:latin typeface="Aptos Display" panose="020B0004020202020204" pitchFamily="34" charset="0"/>
              </a:rPr>
              <a:t>RescueGrid</a:t>
            </a:r>
            <a:r>
              <a:rPr lang="en-US" sz="1200" b="1" dirty="0">
                <a:solidFill>
                  <a:schemeClr val="accent5">
                    <a:lumMod val="75000"/>
                  </a:schemeClr>
                </a:solidFill>
                <a:latin typeface="Aptos Display" panose="020B0004020202020204" pitchFamily="34" charset="0"/>
              </a:rPr>
              <a:t> ingests raw, panicked distress signals in any regional language and immediately normalizes them. It instantly transforms unstructured human chaos into precise map geometries, exact medical supply requirements, and automated drone dispatch protocols. It solves the latency problem by turning mass human panic into clean, actionable tactical data in milliseconds.</a:t>
            </a:r>
          </a:p>
          <a:p>
            <a:r>
              <a:rPr lang="en-US" b="1" dirty="0"/>
              <a:t>C. USP of the proposed solution</a:t>
            </a:r>
            <a:endParaRPr lang="en-US" dirty="0"/>
          </a:p>
          <a:p>
            <a:r>
              <a:rPr lang="en-US" sz="1200" b="1" dirty="0">
                <a:solidFill>
                  <a:schemeClr val="accent5">
                    <a:lumMod val="75000"/>
                  </a:schemeClr>
                </a:solidFill>
              </a:rPr>
              <a:t>Our core USP is the combination of Zero-Infrastructure Up-Time alongside Agentic Autonomous Logic. Unlike typical dispatch software, </a:t>
            </a:r>
            <a:r>
              <a:rPr lang="en-US" sz="1200" b="1" dirty="0" err="1">
                <a:solidFill>
                  <a:schemeClr val="accent5">
                    <a:lumMod val="75000"/>
                  </a:schemeClr>
                </a:solidFill>
              </a:rPr>
              <a:t>RescueGrid</a:t>
            </a:r>
            <a:r>
              <a:rPr lang="en-US" sz="1200" b="1" dirty="0">
                <a:solidFill>
                  <a:schemeClr val="accent5">
                    <a:lumMod val="75000"/>
                  </a:schemeClr>
                </a:solidFill>
              </a:rPr>
              <a:t> features:</a:t>
            </a:r>
          </a:p>
          <a:p>
            <a:pPr marL="171450" indent="-171450">
              <a:buFont typeface="Wingdings" panose="05000000000000000000" pitchFamily="2" charset="2"/>
              <a:buChar char="Ø"/>
            </a:pPr>
            <a:r>
              <a:rPr lang="en-US" sz="1200" b="1" dirty="0">
                <a:solidFill>
                  <a:schemeClr val="accent5">
                    <a:lumMod val="75000"/>
                  </a:schemeClr>
                </a:solidFill>
              </a:rPr>
              <a:t>Multi-Agent Conflict Resolution: Two AI agents (MEDICAL vs LOGISTICS) negotiate resource distribution in the       background before generating a final dispatch.</a:t>
            </a:r>
          </a:p>
          <a:p>
            <a:pPr marL="171450" indent="-171450">
              <a:buFont typeface="Wingdings" panose="05000000000000000000" pitchFamily="2" charset="2"/>
              <a:buChar char="Ø"/>
            </a:pPr>
            <a:r>
              <a:rPr lang="en-US" sz="1200" b="1" dirty="0">
                <a:solidFill>
                  <a:schemeClr val="accent5">
                    <a:lumMod val="75000"/>
                  </a:schemeClr>
                </a:solidFill>
              </a:rPr>
              <a:t>Holographic Command Mode: Built-in matrix inversion that projects a 3D "Pepper's Ghost" reflection onto glass, allowing for a military-grade, hands-free Heads-Up Display (HUD) in chaotic environments.</a:t>
            </a:r>
          </a:p>
          <a:p>
            <a:endParaRPr lang="en-US" sz="1200" b="1" dirty="0">
              <a:solidFill>
                <a:schemeClr val="accent5">
                  <a:lumMod val="75000"/>
                </a:schemeClr>
              </a:solidFill>
              <a:latin typeface="Aptos Display" panose="020B0004020202020204" pitchFamily="34" charset="0"/>
            </a:endParaRPr>
          </a:p>
          <a:p>
            <a:endParaRPr lang="en-US" sz="1200" b="1" dirty="0">
              <a:solidFill>
                <a:schemeClr val="accent5">
                  <a:lumMod val="75000"/>
                </a:schemeClr>
              </a:solidFill>
              <a:latin typeface="Aptos Display" panose="020B0004020202020204" pitchFamily="34" charset="0"/>
            </a:endParaRP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222600" y="589347"/>
            <a:ext cx="8698800" cy="549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1" i="0" u="sng" strike="noStrike" cap="none" dirty="0">
                <a:solidFill>
                  <a:srgbClr val="000000"/>
                </a:solidFill>
                <a:latin typeface="Aptos Display" panose="020B0004020202020204" pitchFamily="34" charset="0"/>
                <a:ea typeface="Google Sans"/>
                <a:cs typeface="Google Sans"/>
                <a:sym typeface="Google Sans"/>
              </a:rPr>
              <a:t> List of features offered by the solution</a:t>
            </a:r>
            <a:endParaRPr sz="1800" b="1" i="0" u="sng" strike="noStrike" cap="none" dirty="0">
              <a:solidFill>
                <a:srgbClr val="000000"/>
              </a:solidFill>
              <a:latin typeface="Aptos Display" panose="020B0004020202020204" pitchFamily="34" charset="0"/>
              <a:ea typeface="Google Sans"/>
              <a:cs typeface="Google Sans"/>
              <a:sym typeface="Google Sans"/>
            </a:endParaRP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
        <p:nvSpPr>
          <p:cNvPr id="129" name="TextBox 128"/>
          <p:cNvSpPr txBox="1"/>
          <p:nvPr/>
        </p:nvSpPr>
        <p:spPr>
          <a:xfrm>
            <a:off x="914400" y="1012866"/>
            <a:ext cx="7315200" cy="4339650"/>
          </a:xfrm>
          <a:prstGeom prst="rect">
            <a:avLst/>
          </a:prstGeom>
          <a:noFill/>
        </p:spPr>
        <p:txBody>
          <a:bodyPr wrap="square">
            <a:spAutoFit/>
          </a:bodyPr>
          <a:lstStyle/>
          <a:p>
            <a:pPr marL="285750" indent="-285750">
              <a:buFont typeface="Wingdings" panose="05000000000000000000" pitchFamily="2" charset="2"/>
              <a:buChar char="Ø"/>
            </a:pPr>
            <a:r>
              <a:rPr lang="en-US" sz="1600" b="1" dirty="0">
                <a:latin typeface="Aptos Display" panose="020B0004020202020204" pitchFamily="34" charset="0"/>
              </a:rPr>
              <a:t>Multilingual AI Triaging</a:t>
            </a:r>
            <a:r>
              <a:rPr lang="en-US" b="1" dirty="0">
                <a:latin typeface="Aptos Display" panose="020B0004020202020204" pitchFamily="34" charset="0"/>
              </a:rPr>
              <a:t>:</a:t>
            </a:r>
            <a:r>
              <a:rPr lang="en-US" dirty="0">
                <a:latin typeface="Aptos Display" panose="020B0004020202020204" pitchFamily="34" charset="0"/>
              </a:rPr>
              <a:t> </a:t>
            </a:r>
            <a:r>
              <a:rPr lang="en-US" b="1" dirty="0">
                <a:solidFill>
                  <a:schemeClr val="accent5">
                    <a:lumMod val="75000"/>
                  </a:schemeClr>
                </a:solidFill>
                <a:latin typeface="Aptos Display" panose="020B0004020202020204" pitchFamily="34" charset="0"/>
              </a:rPr>
              <a:t>Uses Gemini 2.5 Flash to instantly translate raw, multi-lingual civilian panic into structured, machine-readable dispatch data—without human operators.</a:t>
            </a:r>
          </a:p>
          <a:p>
            <a:pPr marL="285750" indent="-285750">
              <a:buFont typeface="Wingdings" panose="05000000000000000000" pitchFamily="2" charset="2"/>
              <a:buChar char="Ø"/>
            </a:pPr>
            <a:r>
              <a:rPr lang="en-US" sz="1600" b="1" dirty="0">
                <a:latin typeface="Aptos Display" panose="020B0004020202020204" pitchFamily="34" charset="0"/>
              </a:rPr>
              <a:t>Autonomous Agent Negotiation</a:t>
            </a:r>
            <a:r>
              <a:rPr lang="en-US" b="1" dirty="0">
                <a:latin typeface="Aptos Display" panose="020B0004020202020204" pitchFamily="34" charset="0"/>
              </a:rPr>
              <a:t>:</a:t>
            </a:r>
            <a:r>
              <a:rPr lang="en-US" dirty="0">
                <a:latin typeface="Aptos Display" panose="020B0004020202020204" pitchFamily="34" charset="0"/>
              </a:rPr>
              <a:t> </a:t>
            </a:r>
            <a:r>
              <a:rPr lang="en-US" b="1" dirty="0">
                <a:solidFill>
                  <a:schemeClr val="accent5">
                    <a:lumMod val="75000"/>
                  </a:schemeClr>
                </a:solidFill>
                <a:latin typeface="Aptos Display" panose="020B0004020202020204" pitchFamily="34" charset="0"/>
              </a:rPr>
              <a:t>Two distinct AI sub-agents (MEDICAL vs LOGISTICS) autonomously negotiate and resolve resource conflicts before executing a deployment.</a:t>
            </a:r>
          </a:p>
          <a:p>
            <a:pPr marL="285750" indent="-285750">
              <a:buFont typeface="Wingdings" panose="05000000000000000000" pitchFamily="2" charset="2"/>
              <a:buChar char="Ø"/>
            </a:pPr>
            <a:r>
              <a:rPr lang="en-US" sz="1600" b="1" dirty="0">
                <a:latin typeface="Aptos Display" panose="020B0004020202020204" pitchFamily="34" charset="0"/>
              </a:rPr>
              <a:t>Holographic Command HUD:</a:t>
            </a:r>
            <a:r>
              <a:rPr lang="en-US" sz="1600" dirty="0">
                <a:latin typeface="Aptos Display" panose="020B0004020202020204" pitchFamily="34" charset="0"/>
              </a:rPr>
              <a:t> </a:t>
            </a:r>
            <a:r>
              <a:rPr lang="en-US" b="1" dirty="0">
                <a:solidFill>
                  <a:schemeClr val="accent5">
                    <a:lumMod val="75000"/>
                  </a:schemeClr>
                </a:solidFill>
                <a:latin typeface="Aptos Display" panose="020B0004020202020204" pitchFamily="34" charset="0"/>
              </a:rPr>
              <a:t>Inverts the display layer to project a 3D "Pepper's Ghost" reflection, creating a hands-free, military-grade terminal for chaotic environments.</a:t>
            </a:r>
          </a:p>
          <a:p>
            <a:pPr marL="285750" indent="-285750">
              <a:buFont typeface="Wingdings" panose="05000000000000000000" pitchFamily="2" charset="2"/>
              <a:buChar char="Ø"/>
            </a:pPr>
            <a:r>
              <a:rPr lang="en-US" sz="1600" b="1" dirty="0">
                <a:latin typeface="Aptos Display" panose="020B0004020202020204" pitchFamily="34" charset="0"/>
              </a:rPr>
              <a:t>Automated UAV &amp; Thermal Tracking:</a:t>
            </a:r>
            <a:r>
              <a:rPr lang="en-US" sz="1600" dirty="0">
                <a:latin typeface="Aptos Display" panose="020B0004020202020204" pitchFamily="34" charset="0"/>
              </a:rPr>
              <a:t> </a:t>
            </a:r>
            <a:r>
              <a:rPr lang="en-US" b="1" dirty="0">
                <a:solidFill>
                  <a:schemeClr val="accent5">
                    <a:lumMod val="75000"/>
                  </a:schemeClr>
                </a:solidFill>
                <a:latin typeface="Aptos Display" panose="020B0004020202020204" pitchFamily="34" charset="0"/>
              </a:rPr>
              <a:t>Calculates automatic intercept vectors to simulate drone supply drops, complete with a live-streaming FLIR thermal uplink.</a:t>
            </a:r>
          </a:p>
          <a:p>
            <a:pPr marL="285750" indent="-285750">
              <a:buFont typeface="Wingdings" panose="05000000000000000000" pitchFamily="2" charset="2"/>
              <a:buChar char="Ø"/>
            </a:pPr>
            <a:r>
              <a:rPr lang="en-US" sz="1600" b="1" dirty="0">
                <a:latin typeface="Aptos Display" panose="020B0004020202020204" pitchFamily="34" charset="0"/>
              </a:rPr>
              <a:t>Tactical Quarantine Geofencing:</a:t>
            </a:r>
            <a:r>
              <a:rPr lang="en-US" dirty="0">
                <a:latin typeface="Aptos Display" panose="020B0004020202020204" pitchFamily="34" charset="0"/>
              </a:rPr>
              <a:t> </a:t>
            </a:r>
            <a:r>
              <a:rPr lang="en-US" b="1" dirty="0">
                <a:solidFill>
                  <a:schemeClr val="accent5">
                    <a:lumMod val="75000"/>
                  </a:schemeClr>
                </a:solidFill>
                <a:latin typeface="Aptos Display" panose="020B0004020202020204" pitchFamily="34" charset="0"/>
              </a:rPr>
              <a:t>Lets commanders physically draw exclusion zones over the live map to instantly halt and re-route escaping civilian swarms away from danger.</a:t>
            </a:r>
          </a:p>
          <a:p>
            <a:pPr marL="171450" indent="-171450">
              <a:buFont typeface="Wingdings" panose="05000000000000000000" pitchFamily="2" charset="2"/>
              <a:buChar char="Ø"/>
            </a:pPr>
            <a:r>
              <a:rPr lang="en-US" sz="1200" b="1" dirty="0">
                <a:latin typeface="Aptos Display" panose="020B0004020202020204" pitchFamily="34" charset="0"/>
              </a:rPr>
              <a:t>   </a:t>
            </a:r>
            <a:r>
              <a:rPr lang="en-US" sz="1600" b="1" dirty="0">
                <a:latin typeface="Aptos Display" panose="020B0004020202020204" pitchFamily="34" charset="0"/>
              </a:rPr>
              <a:t>Multi-Modal Sensory Intake</a:t>
            </a:r>
            <a:r>
              <a:rPr lang="en-US" sz="1600" b="1" dirty="0"/>
              <a:t>: </a:t>
            </a:r>
            <a:r>
              <a:rPr lang="en-US" sz="1200" b="1" dirty="0">
                <a:solidFill>
                  <a:schemeClr val="accent5">
                    <a:lumMod val="75000"/>
                  </a:schemeClr>
                </a:solidFill>
              </a:rPr>
              <a:t>Natively processes raw disaster photography and dispatch audio clips directly through Gemini’s multi-modal visual and audio processing layers.</a:t>
            </a:r>
          </a:p>
          <a:p>
            <a:pPr marL="171450" indent="-171450">
              <a:buFont typeface="Wingdings" panose="05000000000000000000" pitchFamily="2" charset="2"/>
              <a:buChar char="Ø"/>
            </a:pPr>
            <a:r>
              <a:rPr lang="en-US" b="1" dirty="0"/>
              <a:t>  </a:t>
            </a:r>
            <a:r>
              <a:rPr lang="en-US" sz="1600" b="1" dirty="0">
                <a:latin typeface="Aptos Display" panose="020B0004020202020204" pitchFamily="34" charset="0"/>
              </a:rPr>
              <a:t>1-Tap Offline SOS:</a:t>
            </a:r>
            <a:r>
              <a:rPr lang="en-US" sz="1600" dirty="0">
                <a:latin typeface="Aptos Display" panose="020B0004020202020204" pitchFamily="34" charset="0"/>
              </a:rPr>
              <a:t> </a:t>
            </a:r>
            <a:r>
              <a:rPr lang="en-US" sz="1200" b="1" dirty="0">
                <a:solidFill>
                  <a:schemeClr val="accent5">
                    <a:lumMod val="75000"/>
                  </a:schemeClr>
                </a:solidFill>
              </a:rPr>
              <a:t>Edge-based PWA functionality allowing users in shattered 4G networks to queue distress pings that instantly fire the millisecond a connection returns</a:t>
            </a:r>
            <a:r>
              <a:rPr lang="en-US" sz="1200" dirty="0"/>
              <a:t>.</a:t>
            </a:r>
          </a:p>
          <a:p>
            <a:pPr marL="171450" indent="-171450">
              <a:buFont typeface="Wingdings" panose="05000000000000000000" pitchFamily="2" charset="2"/>
              <a:buChar char="Ø"/>
            </a:pPr>
            <a:r>
              <a:rPr lang="en-US" b="1" dirty="0"/>
              <a:t>  </a:t>
            </a:r>
            <a:r>
              <a:rPr lang="en-US" sz="1600" b="1" dirty="0">
                <a:latin typeface="Aptos Display" panose="020B0004020202020204" pitchFamily="34" charset="0"/>
              </a:rPr>
              <a:t>Live Broadcast Ticker:</a:t>
            </a:r>
            <a:r>
              <a:rPr lang="en-US" sz="1600" dirty="0">
                <a:latin typeface="Aptos Display" panose="020B0004020202020204" pitchFamily="34" charset="0"/>
              </a:rPr>
              <a:t> </a:t>
            </a:r>
            <a:r>
              <a:rPr lang="en-US" sz="1200" b="1" dirty="0">
                <a:solidFill>
                  <a:schemeClr val="accent5">
                    <a:lumMod val="75000"/>
                  </a:schemeClr>
                </a:solidFill>
              </a:rPr>
              <a:t>A ubiquitous warning marquee running along the HUD, syncing active </a:t>
            </a:r>
            <a:r>
              <a:rPr lang="en-US" sz="1200" b="1" dirty="0" err="1">
                <a:solidFill>
                  <a:schemeClr val="accent5">
                    <a:lumMod val="75000"/>
                  </a:schemeClr>
                </a:solidFill>
              </a:rPr>
              <a:t>evacuationand</a:t>
            </a:r>
            <a:r>
              <a:rPr lang="en-US" sz="1200" b="1" dirty="0">
                <a:solidFill>
                  <a:schemeClr val="accent5">
                    <a:lumMod val="75000"/>
                  </a:schemeClr>
                </a:solidFill>
              </a:rPr>
              <a:t> hazard protocols across all active terminals.</a:t>
            </a:r>
          </a:p>
          <a:p>
            <a:endParaRPr lang="en-US" dirty="0"/>
          </a:p>
          <a:p>
            <a:pPr marL="285750" indent="-285750">
              <a:buFont typeface="Wingdings" panose="05000000000000000000" pitchFamily="2" charset="2"/>
              <a:buChar char="Ø"/>
            </a:pPr>
            <a:endParaRPr lang="en-US" b="1" dirty="0">
              <a:solidFill>
                <a:schemeClr val="accent5">
                  <a:lumMod val="75000"/>
                </a:schemeClr>
              </a:solidFill>
              <a:latin typeface="Aptos Display" panose="020B0004020202020204" pitchFamily="34" charset="0"/>
            </a:endParaRPr>
          </a:p>
          <a:p>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30"/>
          <p:cNvSpPr txBox="1"/>
          <p:nvPr/>
        </p:nvSpPr>
        <p:spPr>
          <a:xfrm>
            <a:off x="257700" y="666645"/>
            <a:ext cx="8772000" cy="51300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800"/>
              <a:buFont typeface="Arial"/>
              <a:buNone/>
            </a:pPr>
            <a:r>
              <a:rPr lang="en-GB" b="1" i="0" u="sng" strike="noStrike" cap="none" dirty="0">
                <a:solidFill>
                  <a:srgbClr val="000000"/>
                </a:solidFill>
                <a:latin typeface="Google Sans"/>
                <a:ea typeface="Google Sans"/>
                <a:cs typeface="Google Sans"/>
                <a:sym typeface="Google Sans"/>
              </a:rPr>
              <a:t>Process flow diagram </a:t>
            </a:r>
            <a:endParaRPr b="0" i="0" u="sng" strike="noStrike" cap="none" dirty="0">
              <a:solidFill>
                <a:srgbClr val="000000"/>
              </a:solidFill>
              <a:latin typeface="Google Sans"/>
              <a:ea typeface="Google Sans"/>
              <a:cs typeface="Google Sans"/>
              <a:sym typeface="Google Sans"/>
            </a:endParaRPr>
          </a:p>
        </p:txBody>
      </p:sp>
      <p:pic>
        <p:nvPicPr>
          <p:cNvPr id="134" name="Google Shape;134;p30"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9" name="Picture 8">
            <a:extLst>
              <a:ext uri="{FF2B5EF4-FFF2-40B4-BE49-F238E27FC236}">
                <a16:creationId xmlns:a16="http://schemas.microsoft.com/office/drawing/2014/main" id="{31A2FB09-56B9-F751-7DB1-2AD4CBD6581F}"/>
              </a:ext>
            </a:extLst>
          </p:cNvPr>
          <p:cNvPicPr>
            <a:picLocks noChangeAspect="1"/>
          </p:cNvPicPr>
          <p:nvPr/>
        </p:nvPicPr>
        <p:blipFill>
          <a:blip r:embed="rId4"/>
          <a:stretch>
            <a:fillRect/>
          </a:stretch>
        </p:blipFill>
        <p:spPr>
          <a:xfrm>
            <a:off x="0" y="1593637"/>
            <a:ext cx="9144000" cy="19562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140" name="Google Shape;140;p31" title="frameeeee.png"/>
          <p:cNvPicPr preferRelativeResize="0"/>
          <p:nvPr/>
        </p:nvPicPr>
        <p:blipFill>
          <a:blip r:embed="rId3">
            <a:alphaModFix/>
          </a:blip>
          <a:stretch>
            <a:fillRect/>
          </a:stretch>
        </p:blipFill>
        <p:spPr>
          <a:xfrm>
            <a:off x="-3" y="0"/>
            <a:ext cx="9144003" cy="589347"/>
          </a:xfrm>
          <a:prstGeom prst="rect">
            <a:avLst/>
          </a:prstGeom>
          <a:noFill/>
          <a:ln>
            <a:noFill/>
          </a:ln>
        </p:spPr>
      </p:pic>
      <p:pic>
        <p:nvPicPr>
          <p:cNvPr id="5" name="Picture 4">
            <a:extLst>
              <a:ext uri="{FF2B5EF4-FFF2-40B4-BE49-F238E27FC236}">
                <a16:creationId xmlns:a16="http://schemas.microsoft.com/office/drawing/2014/main" id="{D1950631-080F-783F-40E4-B9F3D4AB774B}"/>
              </a:ext>
            </a:extLst>
          </p:cNvPr>
          <p:cNvPicPr>
            <a:picLocks noChangeAspect="1"/>
          </p:cNvPicPr>
          <p:nvPr/>
        </p:nvPicPr>
        <p:blipFill>
          <a:blip r:embed="rId4"/>
          <a:stretch>
            <a:fillRect/>
          </a:stretch>
        </p:blipFill>
        <p:spPr>
          <a:xfrm>
            <a:off x="144781" y="636972"/>
            <a:ext cx="4462378" cy="2510087"/>
          </a:xfrm>
          <a:prstGeom prst="rect">
            <a:avLst/>
          </a:prstGeom>
        </p:spPr>
      </p:pic>
      <p:pic>
        <p:nvPicPr>
          <p:cNvPr id="11" name="Picture 10">
            <a:extLst>
              <a:ext uri="{FF2B5EF4-FFF2-40B4-BE49-F238E27FC236}">
                <a16:creationId xmlns:a16="http://schemas.microsoft.com/office/drawing/2014/main" id="{FAE7DBFA-5860-83A2-0F17-DBEA9473E24E}"/>
              </a:ext>
            </a:extLst>
          </p:cNvPr>
          <p:cNvPicPr>
            <a:picLocks noChangeAspect="1"/>
          </p:cNvPicPr>
          <p:nvPr/>
        </p:nvPicPr>
        <p:blipFill>
          <a:blip r:embed="rId5"/>
          <a:stretch>
            <a:fillRect/>
          </a:stretch>
        </p:blipFill>
        <p:spPr>
          <a:xfrm>
            <a:off x="4681623" y="2571750"/>
            <a:ext cx="4462377" cy="2510087"/>
          </a:xfrm>
          <a:prstGeom prst="rect">
            <a:avLst/>
          </a:prstGeom>
        </p:spPr>
      </p:pic>
      <p:sp>
        <p:nvSpPr>
          <p:cNvPr id="18" name="TextBox 17">
            <a:extLst>
              <a:ext uri="{FF2B5EF4-FFF2-40B4-BE49-F238E27FC236}">
                <a16:creationId xmlns:a16="http://schemas.microsoft.com/office/drawing/2014/main" id="{79C0D101-D52E-63B9-1CA3-05C62AB5A351}"/>
              </a:ext>
            </a:extLst>
          </p:cNvPr>
          <p:cNvSpPr txBox="1"/>
          <p:nvPr/>
        </p:nvSpPr>
        <p:spPr>
          <a:xfrm>
            <a:off x="4498339" y="918829"/>
            <a:ext cx="4572000" cy="1354217"/>
          </a:xfrm>
          <a:prstGeom prst="rect">
            <a:avLst/>
          </a:prstGeom>
          <a:noFill/>
        </p:spPr>
        <p:txBody>
          <a:bodyPr wrap="square">
            <a:spAutoFit/>
          </a:bodyPr>
          <a:lstStyle/>
          <a:p>
            <a:pPr algn="ctr"/>
            <a:r>
              <a:rPr lang="en-IN" sz="1800" b="1" dirty="0">
                <a:solidFill>
                  <a:schemeClr val="tx2">
                    <a:lumMod val="10000"/>
                  </a:schemeClr>
                </a:solidFill>
              </a:rPr>
              <a:t>1)  "Base Command Matrix</a:t>
            </a:r>
            <a:r>
              <a:rPr lang="en-IN" sz="1600" b="1" dirty="0">
                <a:solidFill>
                  <a:schemeClr val="accent5">
                    <a:lumMod val="75000"/>
                  </a:schemeClr>
                </a:solidFill>
              </a:rPr>
              <a:t>:" Progressive Web App (PWA) operating seamlessly over Edge logic. Displays live Leaflet map rendering, squad logistics, and the central AI distress intake feed.</a:t>
            </a:r>
          </a:p>
        </p:txBody>
      </p:sp>
      <p:sp>
        <p:nvSpPr>
          <p:cNvPr id="22" name="TextBox 21">
            <a:extLst>
              <a:ext uri="{FF2B5EF4-FFF2-40B4-BE49-F238E27FC236}">
                <a16:creationId xmlns:a16="http://schemas.microsoft.com/office/drawing/2014/main" id="{C49338EE-EF30-F04F-658E-7AADC0D57F00}"/>
              </a:ext>
            </a:extLst>
          </p:cNvPr>
          <p:cNvSpPr txBox="1"/>
          <p:nvPr/>
        </p:nvSpPr>
        <p:spPr>
          <a:xfrm>
            <a:off x="2631440" y="2276966"/>
            <a:ext cx="4572000" cy="307777"/>
          </a:xfrm>
          <a:prstGeom prst="rect">
            <a:avLst/>
          </a:prstGeom>
          <a:noFill/>
        </p:spPr>
        <p:txBody>
          <a:bodyPr wrap="square">
            <a:spAutoFit/>
          </a:bodyPr>
          <a:lstStyle/>
          <a:p>
            <a:r>
              <a:rPr lang="en-US" b="1" i="0" dirty="0">
                <a:solidFill>
                  <a:srgbClr val="CCCCCC"/>
                </a:solidFill>
                <a:effectLst/>
                <a:latin typeface="ui-sans-serif"/>
              </a:rPr>
              <a:t>"</a:t>
            </a:r>
            <a:r>
              <a:rPr lang="en-US" b="0" i="0" dirty="0">
                <a:solidFill>
                  <a:srgbClr val="CCCCCC"/>
                </a:solidFill>
                <a:effectLst/>
                <a:latin typeface="ui-sans-serif"/>
              </a:rPr>
              <a:t>.</a:t>
            </a:r>
            <a:endParaRPr lang="en-IN" dirty="0"/>
          </a:p>
        </p:txBody>
      </p:sp>
      <p:sp>
        <p:nvSpPr>
          <p:cNvPr id="24" name="TextBox 23">
            <a:extLst>
              <a:ext uri="{FF2B5EF4-FFF2-40B4-BE49-F238E27FC236}">
                <a16:creationId xmlns:a16="http://schemas.microsoft.com/office/drawing/2014/main" id="{31293EA9-B5E7-7C27-B3D7-6B116D3573E5}"/>
              </a:ext>
            </a:extLst>
          </p:cNvPr>
          <p:cNvSpPr txBox="1"/>
          <p:nvPr/>
        </p:nvSpPr>
        <p:spPr>
          <a:xfrm>
            <a:off x="35159" y="3549881"/>
            <a:ext cx="4572000" cy="1354217"/>
          </a:xfrm>
          <a:prstGeom prst="rect">
            <a:avLst/>
          </a:prstGeom>
          <a:noFill/>
        </p:spPr>
        <p:txBody>
          <a:bodyPr wrap="square">
            <a:spAutoFit/>
          </a:bodyPr>
          <a:lstStyle/>
          <a:p>
            <a:pPr algn="ctr"/>
            <a:r>
              <a:rPr lang="en-US" sz="1600" b="1" dirty="0">
                <a:solidFill>
                  <a:schemeClr val="tx2">
                    <a:lumMod val="10000"/>
                  </a:schemeClr>
                </a:solidFill>
              </a:rPr>
              <a:t>2)</a:t>
            </a:r>
            <a:r>
              <a:rPr lang="en-US" sz="1800" b="1" dirty="0">
                <a:solidFill>
                  <a:schemeClr val="tx2">
                    <a:lumMod val="10000"/>
                  </a:schemeClr>
                </a:solidFill>
              </a:rPr>
              <a:t> Automated UAV Integration</a:t>
            </a:r>
            <a:r>
              <a:rPr lang="en-US" sz="1600" b="1" dirty="0">
                <a:solidFill>
                  <a:schemeClr val="accent5">
                    <a:lumMod val="75000"/>
                  </a:schemeClr>
                </a:solidFill>
              </a:rPr>
              <a:t>: Drone Simulation Module calculating intercept vectors for emergency airdrops, featuring a live-rendered FLIR Thermal Tracking simulation.</a:t>
            </a:r>
            <a:endParaRPr lang="en-IN" sz="1600" b="1" dirty="0">
              <a:solidFill>
                <a:schemeClr val="accent5">
                  <a:lumMod val="75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32"/>
          <p:cNvSpPr txBox="1"/>
          <p:nvPr/>
        </p:nvSpPr>
        <p:spPr>
          <a:xfrm>
            <a:off x="253164" y="542633"/>
            <a:ext cx="8820900" cy="598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Aptos Display" panose="020B0004020202020204" pitchFamily="34" charset="0"/>
                <a:ea typeface="Google Sans"/>
                <a:cs typeface="Google Sans"/>
                <a:sym typeface="Google Sans"/>
              </a:rPr>
              <a:t>Architecture diagram of the proposed solution</a:t>
            </a:r>
            <a:endParaRPr sz="1800" b="1" i="0" u="none" strike="noStrike" cap="none" dirty="0">
              <a:solidFill>
                <a:srgbClr val="000000"/>
              </a:solidFill>
              <a:latin typeface="Aptos Display" panose="020B0004020202020204" pitchFamily="34" charset="0"/>
              <a:ea typeface="Google Sans"/>
              <a:cs typeface="Google Sans"/>
              <a:sym typeface="Google Sans"/>
            </a:endParaRPr>
          </a:p>
        </p:txBody>
      </p:sp>
      <p:pic>
        <p:nvPicPr>
          <p:cNvPr id="146" name="Google Shape;146;p32"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7B92BD95-A558-7C7F-6F61-35D54254B103}"/>
              </a:ext>
            </a:extLst>
          </p:cNvPr>
          <p:cNvPicPr>
            <a:picLocks noChangeAspect="1"/>
          </p:cNvPicPr>
          <p:nvPr/>
        </p:nvPicPr>
        <p:blipFill>
          <a:blip r:embed="rId4"/>
          <a:stretch>
            <a:fillRect/>
          </a:stretch>
        </p:blipFill>
        <p:spPr>
          <a:xfrm>
            <a:off x="1778619" y="936593"/>
            <a:ext cx="5422281" cy="2705767"/>
          </a:xfrm>
          <a:prstGeom prst="rect">
            <a:avLst/>
          </a:prstGeom>
        </p:spPr>
      </p:pic>
      <p:sp>
        <p:nvSpPr>
          <p:cNvPr id="5" name="TextBox 4">
            <a:extLst>
              <a:ext uri="{FF2B5EF4-FFF2-40B4-BE49-F238E27FC236}">
                <a16:creationId xmlns:a16="http://schemas.microsoft.com/office/drawing/2014/main" id="{0044A50C-5C09-B6A4-E54F-BF0E05A55721}"/>
              </a:ext>
            </a:extLst>
          </p:cNvPr>
          <p:cNvSpPr txBox="1"/>
          <p:nvPr/>
        </p:nvSpPr>
        <p:spPr>
          <a:xfrm>
            <a:off x="289560" y="3736920"/>
            <a:ext cx="8748109" cy="954107"/>
          </a:xfrm>
          <a:prstGeom prst="rect">
            <a:avLst/>
          </a:prstGeom>
          <a:noFill/>
        </p:spPr>
        <p:txBody>
          <a:bodyPr wrap="square">
            <a:spAutoFit/>
          </a:bodyPr>
          <a:lstStyle/>
          <a:p>
            <a:r>
              <a:rPr lang="en-US" b="1" dirty="0">
                <a:latin typeface="Aptos Display" panose="020B0004020202020204" pitchFamily="34" charset="0"/>
              </a:rPr>
              <a:t>The "Zero-Infrastructure" Advantage: </a:t>
            </a:r>
            <a:r>
              <a:rPr lang="en-US" dirty="0">
                <a:solidFill>
                  <a:schemeClr val="accent5">
                    <a:lumMod val="50000"/>
                  </a:schemeClr>
                </a:solidFill>
                <a:latin typeface="Aptos Display" panose="020B0004020202020204" pitchFamily="34" charset="0"/>
              </a:rPr>
              <a:t>To guarantee up-time during catastrophic infrastructure blackouts, </a:t>
            </a:r>
            <a:r>
              <a:rPr lang="en-US" dirty="0" err="1">
                <a:solidFill>
                  <a:schemeClr val="accent5">
                    <a:lumMod val="50000"/>
                  </a:schemeClr>
                </a:solidFill>
                <a:latin typeface="Aptos Display" panose="020B0004020202020204" pitchFamily="34" charset="0"/>
              </a:rPr>
              <a:t>RescueGrid</a:t>
            </a:r>
            <a:r>
              <a:rPr lang="en-US" dirty="0">
                <a:solidFill>
                  <a:schemeClr val="accent5">
                    <a:lumMod val="50000"/>
                  </a:schemeClr>
                </a:solidFill>
                <a:latin typeface="Aptos Display" panose="020B0004020202020204" pitchFamily="34" charset="0"/>
              </a:rPr>
              <a:t> intentionally bypasses traditional centralized SQL databases. All routing, threat caching, and UI rendering occurs on the Edge Computing Layer via Service Workers. The local client negotiates directly with the Google Gemini 2.5 API, resulting in a 100% serverless, zero-maintenance command application.</a:t>
            </a:r>
            <a:endParaRPr lang="en-IN" dirty="0">
              <a:solidFill>
                <a:schemeClr val="accent5">
                  <a:lumMod val="50000"/>
                </a:schemeClr>
              </a:solidFill>
              <a:latin typeface="Aptos Display" panose="020B00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75005" y="589347"/>
            <a:ext cx="8784300" cy="1128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1" i="0" u="sng" strike="noStrike" cap="none" dirty="0">
                <a:solidFill>
                  <a:srgbClr val="000000"/>
                </a:solidFill>
                <a:latin typeface="Aptos Display" panose="020B0004020202020204" pitchFamily="34" charset="0"/>
                <a:ea typeface="Google Sans"/>
                <a:cs typeface="Google Sans"/>
                <a:sym typeface="Google Sans"/>
              </a:rPr>
              <a:t>Technologies used in the solution</a:t>
            </a:r>
            <a:endParaRPr sz="1200" b="1" i="0" u="sng" strike="noStrike" cap="none" dirty="0">
              <a:solidFill>
                <a:srgbClr val="000000"/>
              </a:solidFill>
              <a:latin typeface="Aptos Display" panose="020B0004020202020204" pitchFamily="34" charset="0"/>
              <a:ea typeface="Google Sans"/>
              <a:cs typeface="Google Sans"/>
              <a:sym typeface="Google Sans"/>
            </a:endParaRP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
        <p:nvSpPr>
          <p:cNvPr id="3" name="TextBox 2">
            <a:extLst>
              <a:ext uri="{FF2B5EF4-FFF2-40B4-BE49-F238E27FC236}">
                <a16:creationId xmlns:a16="http://schemas.microsoft.com/office/drawing/2014/main" id="{E0122BC1-A42D-DC29-7766-21C2B2A3A4C4}"/>
              </a:ext>
            </a:extLst>
          </p:cNvPr>
          <p:cNvSpPr txBox="1"/>
          <p:nvPr/>
        </p:nvSpPr>
        <p:spPr>
          <a:xfrm>
            <a:off x="880110" y="1232922"/>
            <a:ext cx="7383780" cy="3293209"/>
          </a:xfrm>
          <a:prstGeom prst="rect">
            <a:avLst/>
          </a:prstGeom>
          <a:noFill/>
        </p:spPr>
        <p:txBody>
          <a:bodyPr wrap="square">
            <a:spAutoFit/>
          </a:bodyPr>
          <a:lstStyle/>
          <a:p>
            <a:pPr marL="285750" indent="-285750" algn="l">
              <a:buFont typeface="Wingdings" panose="05000000000000000000" pitchFamily="2" charset="2"/>
              <a:buChar char="Ø"/>
            </a:pPr>
            <a:r>
              <a:rPr lang="en-IN" sz="1600" b="1" i="0" dirty="0">
                <a:solidFill>
                  <a:schemeClr val="tx1"/>
                </a:solidFill>
                <a:effectLst/>
                <a:latin typeface="ui-sans-serif"/>
              </a:rPr>
              <a:t>Google Generative AI (</a:t>
            </a:r>
            <a:r>
              <a:rPr lang="en-IN" sz="1600" b="1" i="0" dirty="0">
                <a:solidFill>
                  <a:schemeClr val="tx1"/>
                </a:solidFill>
                <a:effectLst/>
                <a:latin typeface="ui-monospace"/>
              </a:rPr>
              <a:t>gemini-2.5-flash</a:t>
            </a:r>
            <a:r>
              <a:rPr lang="en-IN" sz="1600" b="1" i="0" dirty="0">
                <a:solidFill>
                  <a:schemeClr val="tx1"/>
                </a:solidFill>
                <a:effectLst/>
                <a:latin typeface="ui-sans-serif"/>
              </a:rPr>
              <a:t>):</a:t>
            </a:r>
            <a:r>
              <a:rPr lang="en-IN" sz="1600" b="0" i="0" dirty="0">
                <a:solidFill>
                  <a:schemeClr val="tx1"/>
                </a:solidFill>
                <a:effectLst/>
                <a:latin typeface="ui-sans-serif"/>
              </a:rPr>
              <a:t> </a:t>
            </a:r>
            <a:r>
              <a:rPr lang="en-IN" b="0" i="0" dirty="0">
                <a:solidFill>
                  <a:schemeClr val="accent5">
                    <a:lumMod val="50000"/>
                  </a:schemeClr>
                </a:solidFill>
                <a:effectLst/>
                <a:latin typeface="Aptos Display" panose="020B0004020202020204" pitchFamily="34" charset="0"/>
              </a:rPr>
              <a:t>Powers the core intelligence, handling native multi-lingual translation, distress normalization, and the Multi-Agent logistics negotiation.</a:t>
            </a:r>
          </a:p>
          <a:p>
            <a:pPr marL="285750" indent="-285750" algn="l">
              <a:buFont typeface="Wingdings" panose="05000000000000000000" pitchFamily="2" charset="2"/>
              <a:buChar char="Ø"/>
            </a:pPr>
            <a:r>
              <a:rPr lang="en-IN" sz="1600" b="1" i="0" dirty="0">
                <a:solidFill>
                  <a:schemeClr val="tx1"/>
                </a:solidFill>
                <a:effectLst/>
                <a:latin typeface="ui-sans-serif"/>
              </a:rPr>
              <a:t>Progressive Web App (PWA) Architecture:</a:t>
            </a:r>
            <a:r>
              <a:rPr lang="en-IN" b="0" i="0" dirty="0">
                <a:solidFill>
                  <a:srgbClr val="CCCCCC"/>
                </a:solidFill>
                <a:effectLst/>
                <a:latin typeface="ui-sans-serif"/>
              </a:rPr>
              <a:t> </a:t>
            </a:r>
            <a:r>
              <a:rPr lang="en-IN" b="0" i="0" dirty="0">
                <a:solidFill>
                  <a:schemeClr val="accent5">
                    <a:lumMod val="50000"/>
                  </a:schemeClr>
                </a:solidFill>
                <a:effectLst/>
                <a:latin typeface="Aptos Display" panose="020B0004020202020204" pitchFamily="34" charset="0"/>
              </a:rPr>
              <a:t>Utilizes browser Service Workers and Manifests to allow the dashboard to function offline and queue requests during network blackouts.</a:t>
            </a:r>
          </a:p>
          <a:p>
            <a:pPr marL="285750" indent="-285750" algn="l">
              <a:buFont typeface="Wingdings" panose="05000000000000000000" pitchFamily="2" charset="2"/>
              <a:buChar char="Ø"/>
            </a:pPr>
            <a:r>
              <a:rPr lang="en-IN" sz="1600" b="1" i="0" dirty="0">
                <a:solidFill>
                  <a:schemeClr val="tx1"/>
                </a:solidFill>
                <a:effectLst/>
                <a:latin typeface="ui-sans-serif"/>
              </a:rPr>
              <a:t>Vanilla HTML5, CSS3, &amp; JavaScript</a:t>
            </a:r>
            <a:r>
              <a:rPr lang="en-IN" b="1" i="0" dirty="0">
                <a:solidFill>
                  <a:srgbClr val="CCCCCC"/>
                </a:solidFill>
                <a:effectLst/>
                <a:latin typeface="ui-sans-serif"/>
              </a:rPr>
              <a:t>:</a:t>
            </a:r>
            <a:r>
              <a:rPr lang="en-IN" b="0" i="0" dirty="0">
                <a:solidFill>
                  <a:schemeClr val="accent5">
                    <a:lumMod val="50000"/>
                  </a:schemeClr>
                </a:solidFill>
                <a:effectLst/>
                <a:latin typeface="Aptos Display" panose="020B0004020202020204" pitchFamily="34" charset="0"/>
              </a:rPr>
              <a:t> A zero-dependency frontend stack. Avoiding heavy frameworks like React ensures ultra-low latency and instant load times on edge devices.</a:t>
            </a:r>
          </a:p>
          <a:p>
            <a:pPr marL="285750" indent="-285750" algn="l">
              <a:buFont typeface="Wingdings" panose="05000000000000000000" pitchFamily="2" charset="2"/>
              <a:buChar char="Ø"/>
            </a:pPr>
            <a:r>
              <a:rPr lang="en-IN" sz="1600" b="1" i="0" dirty="0">
                <a:solidFill>
                  <a:schemeClr val="tx1"/>
                </a:solidFill>
                <a:effectLst/>
                <a:latin typeface="ui-sans-serif"/>
              </a:rPr>
              <a:t>Leaflet.js Mapping Engine</a:t>
            </a:r>
            <a:r>
              <a:rPr lang="en-IN" b="1" i="0" dirty="0">
                <a:solidFill>
                  <a:srgbClr val="CCCCCC"/>
                </a:solidFill>
                <a:effectLst/>
                <a:latin typeface="ui-sans-serif"/>
              </a:rPr>
              <a:t>:</a:t>
            </a:r>
            <a:r>
              <a:rPr lang="en-IN" b="0" i="0" dirty="0">
                <a:solidFill>
                  <a:schemeClr val="accent5">
                    <a:lumMod val="50000"/>
                  </a:schemeClr>
                </a:solidFill>
                <a:effectLst/>
                <a:latin typeface="Aptos Display" panose="020B0004020202020204" pitchFamily="34" charset="0"/>
              </a:rPr>
              <a:t> An open-source, mobile-friendly interactive mapping library used to plot geospatial coordinates, heatmaps, and simulated drone telemetry.</a:t>
            </a:r>
          </a:p>
          <a:p>
            <a:pPr marL="285750" indent="-285750" algn="l">
              <a:buFont typeface="Wingdings" panose="05000000000000000000" pitchFamily="2" charset="2"/>
              <a:buChar char="Ø"/>
            </a:pPr>
            <a:r>
              <a:rPr lang="en-IN" sz="1600" b="1" i="0" dirty="0">
                <a:solidFill>
                  <a:schemeClr val="tx1"/>
                </a:solidFill>
                <a:effectLst/>
                <a:latin typeface="ui-sans-serif"/>
              </a:rPr>
              <a:t>NEXRAD WMS API:</a:t>
            </a:r>
            <a:r>
              <a:rPr lang="en-IN" sz="1600" b="0" i="0" dirty="0">
                <a:solidFill>
                  <a:schemeClr val="tx1"/>
                </a:solidFill>
                <a:effectLst/>
                <a:latin typeface="ui-sans-serif"/>
              </a:rPr>
              <a:t> </a:t>
            </a:r>
            <a:r>
              <a:rPr lang="en-IN" b="0" i="0" dirty="0">
                <a:solidFill>
                  <a:schemeClr val="accent5">
                    <a:lumMod val="50000"/>
                  </a:schemeClr>
                </a:solidFill>
                <a:effectLst/>
                <a:latin typeface="Aptos Display" panose="020B0004020202020204" pitchFamily="34" charset="0"/>
              </a:rPr>
              <a:t>Integrates live National Weather Service severe storm radar layers directly onto the tactical map</a:t>
            </a:r>
            <a:r>
              <a:rPr lang="en-IN" b="0" i="0" dirty="0">
                <a:solidFill>
                  <a:srgbClr val="CCCCCC"/>
                </a:solidFill>
                <a:effectLst/>
                <a:latin typeface="ui-sans-serif"/>
              </a:rPr>
              <a:t>.</a:t>
            </a:r>
          </a:p>
          <a:p>
            <a:pPr marL="285750" indent="-285750" algn="l">
              <a:buFont typeface="Wingdings" panose="05000000000000000000" pitchFamily="2" charset="2"/>
              <a:buChar char="Ø"/>
            </a:pPr>
            <a:r>
              <a:rPr lang="en-IN" sz="1600" b="1" i="0" dirty="0">
                <a:solidFill>
                  <a:schemeClr val="tx1"/>
                </a:solidFill>
                <a:effectLst/>
                <a:latin typeface="ui-sans-serif"/>
              </a:rPr>
              <a:t>Firebase Hosting / GitHub Pages (Cloud Deployment):</a:t>
            </a:r>
            <a:r>
              <a:rPr lang="en-IN" sz="1600" b="0" i="0" dirty="0">
                <a:solidFill>
                  <a:schemeClr val="tx1"/>
                </a:solidFill>
                <a:effectLst/>
                <a:latin typeface="ui-sans-serif"/>
              </a:rPr>
              <a:t> </a:t>
            </a:r>
            <a:r>
              <a:rPr lang="en-IN" b="0" i="0" dirty="0">
                <a:solidFill>
                  <a:schemeClr val="accent5">
                    <a:lumMod val="50000"/>
                  </a:schemeClr>
                </a:solidFill>
                <a:effectLst/>
                <a:latin typeface="Aptos Display" panose="020B0004020202020204" pitchFamily="34" charset="0"/>
              </a:rPr>
              <a:t>Provides decentralized, high-availability static delivery of the application to meet the Solution Challenge cloud deployment requirements.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34"/>
          <p:cNvSpPr txBox="1"/>
          <p:nvPr/>
        </p:nvSpPr>
        <p:spPr>
          <a:xfrm>
            <a:off x="298800" y="482667"/>
            <a:ext cx="8845200" cy="635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2000" b="1" i="0" u="sng" strike="noStrike" cap="none" dirty="0">
                <a:solidFill>
                  <a:schemeClr val="tx1"/>
                </a:solidFill>
                <a:latin typeface="Aptos Display" panose="020B0004020202020204" pitchFamily="34" charset="0"/>
                <a:ea typeface="Google Sans"/>
                <a:cs typeface="Google Sans"/>
                <a:sym typeface="Google Sans"/>
              </a:rPr>
              <a:t>Estimated implementation cost</a:t>
            </a:r>
            <a:endParaRPr sz="2000" b="1" i="0" u="sng" strike="noStrike" cap="none" dirty="0">
              <a:solidFill>
                <a:schemeClr val="tx1"/>
              </a:solidFill>
              <a:latin typeface="Aptos Display" panose="020B0004020202020204" pitchFamily="34" charset="0"/>
              <a:ea typeface="Google Sans"/>
              <a:cs typeface="Google Sans"/>
              <a:sym typeface="Google Sans"/>
            </a:endParaRPr>
          </a:p>
        </p:txBody>
      </p:sp>
      <p:pic>
        <p:nvPicPr>
          <p:cNvPr id="158" name="Google Shape;158;p34" title="frameeeee.png"/>
          <p:cNvPicPr preferRelativeResize="0"/>
          <p:nvPr/>
        </p:nvPicPr>
        <p:blipFill>
          <a:blip r:embed="rId3">
            <a:alphaModFix/>
          </a:blip>
          <a:stretch>
            <a:fillRect/>
          </a:stretch>
        </p:blipFill>
        <p:spPr>
          <a:xfrm>
            <a:off x="0" y="0"/>
            <a:ext cx="9144003" cy="589347"/>
          </a:xfrm>
          <a:prstGeom prst="rect">
            <a:avLst/>
          </a:prstGeom>
          <a:noFill/>
          <a:ln>
            <a:noFill/>
          </a:ln>
        </p:spPr>
      </p:pic>
      <p:sp>
        <p:nvSpPr>
          <p:cNvPr id="159" name="TextBox 158"/>
          <p:cNvSpPr txBox="1"/>
          <p:nvPr/>
        </p:nvSpPr>
        <p:spPr>
          <a:xfrm>
            <a:off x="914400" y="1371600"/>
            <a:ext cx="7315200" cy="307777"/>
          </a:xfrm>
          <a:prstGeom prst="rect">
            <a:avLst/>
          </a:prstGeom>
          <a:noFill/>
        </p:spPr>
        <p:txBody>
          <a:bodyPr wrap="square">
            <a:spAutoFit/>
          </a:bodyPr>
          <a:lstStyle/>
          <a:p>
            <a:endParaRPr dirty="0"/>
          </a:p>
        </p:txBody>
      </p:sp>
      <p:sp>
        <p:nvSpPr>
          <p:cNvPr id="3" name="TextBox 2">
            <a:extLst>
              <a:ext uri="{FF2B5EF4-FFF2-40B4-BE49-F238E27FC236}">
                <a16:creationId xmlns:a16="http://schemas.microsoft.com/office/drawing/2014/main" id="{E9FC5DAB-88E7-EADE-23C4-C6598849C36F}"/>
              </a:ext>
            </a:extLst>
          </p:cNvPr>
          <p:cNvSpPr txBox="1"/>
          <p:nvPr/>
        </p:nvSpPr>
        <p:spPr>
          <a:xfrm>
            <a:off x="1360978" y="1125200"/>
            <a:ext cx="6720843" cy="3785652"/>
          </a:xfrm>
          <a:prstGeom prst="rect">
            <a:avLst/>
          </a:prstGeom>
          <a:noFill/>
        </p:spPr>
        <p:txBody>
          <a:bodyPr wrap="square">
            <a:spAutoFit/>
          </a:bodyPr>
          <a:lstStyle/>
          <a:p>
            <a:pPr algn="l">
              <a:buNone/>
            </a:pPr>
            <a:r>
              <a:rPr lang="en-US" sz="1600" b="1" i="0" dirty="0">
                <a:solidFill>
                  <a:schemeClr val="accent5">
                    <a:lumMod val="75000"/>
                  </a:schemeClr>
                </a:solidFill>
                <a:effectLst/>
                <a:latin typeface="ui-sans-serif"/>
              </a:rPr>
              <a:t>The competitive advantage of the </a:t>
            </a:r>
            <a:r>
              <a:rPr lang="en-US" sz="1600" b="1" i="0" dirty="0" err="1">
                <a:solidFill>
                  <a:schemeClr val="accent5">
                    <a:lumMod val="75000"/>
                  </a:schemeClr>
                </a:solidFill>
                <a:effectLst/>
                <a:latin typeface="ui-sans-serif"/>
              </a:rPr>
              <a:t>RescueGrid</a:t>
            </a:r>
            <a:r>
              <a:rPr lang="en-US" sz="1600" b="1" i="0" dirty="0">
                <a:solidFill>
                  <a:schemeClr val="accent5">
                    <a:lumMod val="75000"/>
                  </a:schemeClr>
                </a:solidFill>
                <a:effectLst/>
                <a:latin typeface="ui-sans-serif"/>
              </a:rPr>
              <a:t> architecture is its near-zero operational cost. By pushing the heavy lifting to the Edge (the user's device) via Progressive Web App (PWA) limits, we avoid expensive cloud database scaling.</a:t>
            </a:r>
          </a:p>
          <a:p>
            <a:pPr algn="l">
              <a:buNone/>
            </a:pPr>
            <a:endParaRPr lang="en-US" sz="1600" b="0" i="0" dirty="0">
              <a:solidFill>
                <a:schemeClr val="accent5">
                  <a:lumMod val="75000"/>
                </a:schemeClr>
              </a:solidFill>
              <a:effectLst/>
              <a:latin typeface="ui-sans-serif"/>
            </a:endParaRPr>
          </a:p>
          <a:p>
            <a:pPr algn="l">
              <a:buFont typeface="Arial" panose="020B0604020202020204" pitchFamily="34" charset="0"/>
              <a:buChar char="•"/>
            </a:pPr>
            <a:r>
              <a:rPr lang="en-US" sz="1600" b="1" i="0" dirty="0">
                <a:solidFill>
                  <a:schemeClr val="tx1"/>
                </a:solidFill>
                <a:effectLst/>
                <a:latin typeface="ui-sans-serif"/>
              </a:rPr>
              <a:t>Development &amp; MVP Cost:</a:t>
            </a:r>
            <a:r>
              <a:rPr lang="en-US" sz="1600" b="0" i="0" dirty="0">
                <a:solidFill>
                  <a:schemeClr val="tx1"/>
                </a:solidFill>
                <a:effectLst/>
                <a:latin typeface="ui-sans-serif"/>
              </a:rPr>
              <a:t> </a:t>
            </a:r>
            <a:r>
              <a:rPr lang="en-US" sz="1600" b="1" i="0" dirty="0">
                <a:solidFill>
                  <a:schemeClr val="accent5">
                    <a:lumMod val="75000"/>
                  </a:schemeClr>
                </a:solidFill>
                <a:effectLst/>
                <a:latin typeface="ui-sans-serif"/>
              </a:rPr>
              <a:t>$0.00</a:t>
            </a:r>
            <a:endParaRPr lang="en-US" sz="1600" b="0" i="0" dirty="0">
              <a:solidFill>
                <a:schemeClr val="accent5">
                  <a:lumMod val="75000"/>
                </a:schemeClr>
              </a:solidFill>
              <a:effectLst/>
              <a:latin typeface="ui-sans-serif"/>
            </a:endParaRPr>
          </a:p>
          <a:p>
            <a:pPr algn="l">
              <a:buFont typeface="Arial" panose="020B0604020202020204" pitchFamily="34" charset="0"/>
              <a:buChar char="•"/>
            </a:pPr>
            <a:r>
              <a:rPr lang="en-US" sz="1600" b="1" i="0" dirty="0">
                <a:solidFill>
                  <a:schemeClr val="tx1"/>
                </a:solidFill>
                <a:effectLst/>
                <a:latin typeface="ui-sans-serif"/>
              </a:rPr>
              <a:t>Cloud Hosting (Firebase / GitHub Pages):</a:t>
            </a:r>
            <a:r>
              <a:rPr lang="en-US" sz="1600" b="0" i="0" dirty="0">
                <a:solidFill>
                  <a:schemeClr val="tx1"/>
                </a:solidFill>
                <a:effectLst/>
                <a:latin typeface="ui-sans-serif"/>
              </a:rPr>
              <a:t> </a:t>
            </a:r>
            <a:r>
              <a:rPr lang="en-US" sz="1600" b="1" i="0" dirty="0">
                <a:solidFill>
                  <a:schemeClr val="accent5">
                    <a:lumMod val="75000"/>
                  </a:schemeClr>
                </a:solidFill>
                <a:effectLst/>
                <a:latin typeface="ui-sans-serif"/>
              </a:rPr>
              <a:t>$0.00</a:t>
            </a:r>
            <a:r>
              <a:rPr lang="en-US" sz="1600" b="0" i="0" dirty="0">
                <a:solidFill>
                  <a:schemeClr val="accent5">
                    <a:lumMod val="75000"/>
                  </a:schemeClr>
                </a:solidFill>
                <a:effectLst/>
                <a:latin typeface="ui-sans-serif"/>
              </a:rPr>
              <a:t> (Deployable entirely on free-tier static hosting).</a:t>
            </a:r>
          </a:p>
          <a:p>
            <a:pPr algn="l">
              <a:buFont typeface="Arial" panose="020B0604020202020204" pitchFamily="34" charset="0"/>
              <a:buChar char="•"/>
            </a:pPr>
            <a:r>
              <a:rPr lang="en-US" sz="1600" b="1" i="0" dirty="0">
                <a:solidFill>
                  <a:schemeClr val="tx1"/>
                </a:solidFill>
                <a:effectLst/>
                <a:latin typeface="ui-sans-serif"/>
              </a:rPr>
              <a:t>Mapping &amp; Telemetry (Leaflet + NEXRAD)</a:t>
            </a:r>
            <a:r>
              <a:rPr lang="en-US" sz="1600" b="1" i="0" dirty="0">
                <a:solidFill>
                  <a:schemeClr val="accent5">
                    <a:lumMod val="75000"/>
                  </a:schemeClr>
                </a:solidFill>
                <a:effectLst/>
                <a:latin typeface="ui-sans-serif"/>
              </a:rPr>
              <a:t>:</a:t>
            </a:r>
            <a:r>
              <a:rPr lang="en-US" sz="1600" b="0" i="0" dirty="0">
                <a:solidFill>
                  <a:schemeClr val="accent5">
                    <a:lumMod val="75000"/>
                  </a:schemeClr>
                </a:solidFill>
                <a:effectLst/>
                <a:latin typeface="ui-sans-serif"/>
              </a:rPr>
              <a:t> </a:t>
            </a:r>
            <a:r>
              <a:rPr lang="en-US" sz="1600" b="1" i="0" dirty="0">
                <a:solidFill>
                  <a:schemeClr val="accent5">
                    <a:lumMod val="75000"/>
                  </a:schemeClr>
                </a:solidFill>
                <a:effectLst/>
                <a:latin typeface="ui-sans-serif"/>
              </a:rPr>
              <a:t>$0.00</a:t>
            </a:r>
            <a:r>
              <a:rPr lang="en-US" sz="1600" b="0" i="0" dirty="0">
                <a:solidFill>
                  <a:schemeClr val="accent5">
                    <a:lumMod val="75000"/>
                  </a:schemeClr>
                </a:solidFill>
                <a:effectLst/>
                <a:latin typeface="ui-sans-serif"/>
              </a:rPr>
              <a:t> (100% open-source libraries and public government APIs).</a:t>
            </a:r>
          </a:p>
          <a:p>
            <a:pPr algn="l">
              <a:buFont typeface="Arial" panose="020B0604020202020204" pitchFamily="34" charset="0"/>
              <a:buChar char="•"/>
            </a:pPr>
            <a:r>
              <a:rPr lang="en-US" sz="1600" b="1" i="0" dirty="0">
                <a:solidFill>
                  <a:schemeClr val="tx1"/>
                </a:solidFill>
                <a:effectLst/>
                <a:latin typeface="ui-sans-serif"/>
              </a:rPr>
              <a:t>Database Management:</a:t>
            </a:r>
            <a:r>
              <a:rPr lang="en-US" sz="1600" b="0" i="0" dirty="0">
                <a:solidFill>
                  <a:schemeClr val="tx1"/>
                </a:solidFill>
                <a:effectLst/>
                <a:latin typeface="ui-sans-serif"/>
              </a:rPr>
              <a:t> </a:t>
            </a:r>
            <a:r>
              <a:rPr lang="en-US" sz="1600" b="1" i="0" dirty="0">
                <a:solidFill>
                  <a:schemeClr val="accent5">
                    <a:lumMod val="75000"/>
                  </a:schemeClr>
                </a:solidFill>
                <a:effectLst/>
                <a:latin typeface="ui-sans-serif"/>
              </a:rPr>
              <a:t>$0.00</a:t>
            </a:r>
            <a:r>
              <a:rPr lang="en-US" sz="1600" b="0" i="0" dirty="0">
                <a:solidFill>
                  <a:schemeClr val="accent5">
                    <a:lumMod val="75000"/>
                  </a:schemeClr>
                </a:solidFill>
                <a:effectLst/>
                <a:latin typeface="ui-sans-serif"/>
              </a:rPr>
              <a:t> (Eliminated entirely. State is managed via local caching and Service Workers).</a:t>
            </a:r>
          </a:p>
          <a:p>
            <a:pPr algn="l">
              <a:buFont typeface="Arial" panose="020B0604020202020204" pitchFamily="34" charset="0"/>
              <a:buChar char="•"/>
            </a:pPr>
            <a:r>
              <a:rPr lang="en-US" sz="1600" b="1" i="0" dirty="0">
                <a:solidFill>
                  <a:schemeClr val="tx1"/>
                </a:solidFill>
                <a:effectLst/>
                <a:latin typeface="ui-sans-serif"/>
              </a:rPr>
              <a:t>AI Inference (Google Gemini Flash):</a:t>
            </a:r>
            <a:r>
              <a:rPr lang="en-US" sz="1600" b="0" i="0" dirty="0">
                <a:solidFill>
                  <a:schemeClr val="tx1"/>
                </a:solidFill>
                <a:effectLst/>
                <a:latin typeface="ui-sans-serif"/>
              </a:rPr>
              <a:t> </a:t>
            </a:r>
            <a:r>
              <a:rPr lang="en-US" sz="1600" b="1" i="0" dirty="0">
                <a:solidFill>
                  <a:schemeClr val="accent5">
                    <a:lumMod val="75000"/>
                  </a:schemeClr>
                </a:solidFill>
                <a:effectLst/>
                <a:latin typeface="ui-sans-serif"/>
              </a:rPr>
              <a:t>Free-Tier for MVP.</a:t>
            </a:r>
            <a:r>
              <a:rPr lang="en-US" sz="1600" b="0" i="0" dirty="0">
                <a:solidFill>
                  <a:schemeClr val="accent5">
                    <a:lumMod val="75000"/>
                  </a:schemeClr>
                </a:solidFill>
                <a:effectLst/>
                <a:latin typeface="ui-sans-serif"/>
              </a:rPr>
              <a:t> Upon commercial scaling, the cost is strictly pay-per-token API usage, which is exponentially cheaper than maintaining active 24/7 server instances.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113220" y="589347"/>
            <a:ext cx="8723100" cy="598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1" i="0" u="sng" strike="noStrike" cap="none" dirty="0">
                <a:solidFill>
                  <a:srgbClr val="000000"/>
                </a:solidFill>
                <a:latin typeface="Aptos Display" panose="020B0004020202020204" pitchFamily="34" charset="0"/>
                <a:ea typeface="Google Sans"/>
                <a:cs typeface="Google Sans"/>
                <a:sym typeface="Google Sans"/>
              </a:rPr>
              <a:t>Snapshots of the MVP</a:t>
            </a:r>
            <a:endParaRPr sz="1800" b="1" i="0" u="sng" strike="noStrike" cap="none" dirty="0">
              <a:solidFill>
                <a:srgbClr val="000000"/>
              </a:solidFill>
              <a:latin typeface="Aptos Display" panose="020B0004020202020204" pitchFamily="34" charset="0"/>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C431020E-A56E-94AF-84C3-EB9015AB433C}"/>
              </a:ext>
            </a:extLst>
          </p:cNvPr>
          <p:cNvPicPr>
            <a:picLocks noChangeAspect="1"/>
          </p:cNvPicPr>
          <p:nvPr/>
        </p:nvPicPr>
        <p:blipFill>
          <a:blip r:embed="rId4"/>
          <a:stretch>
            <a:fillRect/>
          </a:stretch>
        </p:blipFill>
        <p:spPr>
          <a:xfrm>
            <a:off x="113220" y="1013460"/>
            <a:ext cx="5677980" cy="3865220"/>
          </a:xfrm>
          <a:prstGeom prst="rect">
            <a:avLst/>
          </a:prstGeom>
        </p:spPr>
      </p:pic>
      <p:sp>
        <p:nvSpPr>
          <p:cNvPr id="5" name="TextBox 4">
            <a:extLst>
              <a:ext uri="{FF2B5EF4-FFF2-40B4-BE49-F238E27FC236}">
                <a16:creationId xmlns:a16="http://schemas.microsoft.com/office/drawing/2014/main" id="{E5749539-0D51-5BB0-E735-170110607BFF}"/>
              </a:ext>
            </a:extLst>
          </p:cNvPr>
          <p:cNvSpPr txBox="1"/>
          <p:nvPr/>
        </p:nvSpPr>
        <p:spPr>
          <a:xfrm>
            <a:off x="5852160" y="1345582"/>
            <a:ext cx="3291840" cy="3208571"/>
          </a:xfrm>
          <a:prstGeom prst="rect">
            <a:avLst/>
          </a:prstGeom>
          <a:noFill/>
        </p:spPr>
        <p:txBody>
          <a:bodyPr wrap="square">
            <a:spAutoFit/>
          </a:bodyPr>
          <a:lstStyle/>
          <a:p>
            <a:pPr algn="l">
              <a:buNone/>
            </a:pPr>
            <a:r>
              <a:rPr lang="en-US" sz="1200" b="1" i="0" u="sng" dirty="0" err="1">
                <a:solidFill>
                  <a:schemeClr val="tx1"/>
                </a:solidFill>
                <a:effectLst/>
                <a:latin typeface="ui-sans-serif"/>
              </a:rPr>
              <a:t>RescueGrid</a:t>
            </a:r>
            <a:r>
              <a:rPr lang="en-US" sz="1200" b="1" i="0" u="sng" dirty="0">
                <a:solidFill>
                  <a:schemeClr val="tx1"/>
                </a:solidFill>
                <a:effectLst/>
                <a:latin typeface="ui-sans-serif"/>
              </a:rPr>
              <a:t> Command Interface</a:t>
            </a:r>
            <a:r>
              <a:rPr lang="en-US" sz="1200" b="1" i="0" dirty="0">
                <a:solidFill>
                  <a:schemeClr val="tx1"/>
                </a:solidFill>
                <a:effectLst/>
                <a:latin typeface="ui-sans-serif"/>
              </a:rPr>
              <a:t>:</a:t>
            </a:r>
            <a:r>
              <a:rPr lang="en-US" sz="1200" b="0" i="0" dirty="0">
                <a:solidFill>
                  <a:schemeClr val="tx1"/>
                </a:solidFill>
                <a:effectLst/>
                <a:latin typeface="ui-sans-serif"/>
              </a:rPr>
              <a:t> </a:t>
            </a:r>
            <a:r>
              <a:rPr lang="en-US" sz="1050" b="0" i="0" dirty="0">
                <a:solidFill>
                  <a:schemeClr val="accent5">
                    <a:lumMod val="50000"/>
                  </a:schemeClr>
                </a:solidFill>
                <a:effectLst/>
                <a:latin typeface="ui-sans-serif"/>
              </a:rPr>
              <a:t>This is the fully integrated, edge-deployed Progressive Web App dashboard. It provides real-time geospatial awareness using </a:t>
            </a:r>
            <a:r>
              <a:rPr lang="en-US" sz="1050" b="1" i="0" dirty="0">
                <a:solidFill>
                  <a:schemeClr val="tx1"/>
                </a:solidFill>
                <a:effectLst/>
                <a:latin typeface="ui-sans-serif"/>
              </a:rPr>
              <a:t>Leaflet.js mapping</a:t>
            </a:r>
            <a:r>
              <a:rPr lang="en-US" sz="1050" b="0" i="0" dirty="0">
                <a:solidFill>
                  <a:schemeClr val="tx1"/>
                </a:solidFill>
                <a:effectLst/>
                <a:latin typeface="ui-sans-serif"/>
              </a:rPr>
              <a:t> </a:t>
            </a:r>
            <a:r>
              <a:rPr lang="en-US" sz="1050" b="0" i="0" dirty="0">
                <a:solidFill>
                  <a:schemeClr val="accent5">
                    <a:lumMod val="50000"/>
                  </a:schemeClr>
                </a:solidFill>
                <a:effectLst/>
                <a:latin typeface="ui-sans-serif"/>
              </a:rPr>
              <a:t>while maintaining zero reliance on backend servers.</a:t>
            </a:r>
          </a:p>
          <a:p>
            <a:pPr algn="l">
              <a:buNone/>
            </a:pPr>
            <a:r>
              <a:rPr lang="en-US" sz="1200" b="1" i="0" u="sng" dirty="0">
                <a:solidFill>
                  <a:schemeClr val="tx1"/>
                </a:solidFill>
                <a:effectLst/>
                <a:latin typeface="ui-sans-serif"/>
              </a:rPr>
              <a:t>Key Visual Features Displayed:</a:t>
            </a:r>
          </a:p>
          <a:p>
            <a:pPr marL="171450" indent="-171450" algn="l">
              <a:buFont typeface="Wingdings" panose="05000000000000000000" pitchFamily="2" charset="2"/>
              <a:buChar char="Ø"/>
            </a:pPr>
            <a:r>
              <a:rPr lang="en-US" sz="1050" b="1" i="0" dirty="0">
                <a:solidFill>
                  <a:schemeClr val="tx1"/>
                </a:solidFill>
                <a:effectLst/>
                <a:latin typeface="ui-sans-serif"/>
              </a:rPr>
              <a:t>Multi-Modal Inbox (Left):</a:t>
            </a:r>
            <a:r>
              <a:rPr lang="en-US" sz="1050" b="0" i="0" dirty="0">
                <a:solidFill>
                  <a:schemeClr val="tx1"/>
                </a:solidFill>
                <a:effectLst/>
                <a:latin typeface="ui-sans-serif"/>
              </a:rPr>
              <a:t> </a:t>
            </a:r>
            <a:r>
              <a:rPr lang="en-US" sz="1050" b="0" i="0" dirty="0">
                <a:solidFill>
                  <a:schemeClr val="accent5">
                    <a:lumMod val="50000"/>
                  </a:schemeClr>
                </a:solidFill>
                <a:effectLst/>
                <a:latin typeface="ui-sans-serif"/>
              </a:rPr>
              <a:t>Allows commanders to ingest raw voice dictation and camera images directly into the Gemini API.</a:t>
            </a:r>
          </a:p>
          <a:p>
            <a:pPr marL="171450" indent="-171450" algn="l">
              <a:buFont typeface="Wingdings" panose="05000000000000000000" pitchFamily="2" charset="2"/>
              <a:buChar char="Ø"/>
            </a:pPr>
            <a:r>
              <a:rPr lang="en-US" sz="1050" b="1" i="0" dirty="0">
                <a:solidFill>
                  <a:schemeClr val="tx1"/>
                </a:solidFill>
                <a:effectLst/>
                <a:latin typeface="ui-sans-serif"/>
              </a:rPr>
              <a:t>Agentic Logistics Protocol (Bottom Left):</a:t>
            </a:r>
            <a:r>
              <a:rPr lang="en-US" sz="1050" b="0" i="0" dirty="0">
                <a:solidFill>
                  <a:schemeClr val="tx1"/>
                </a:solidFill>
                <a:effectLst/>
                <a:latin typeface="ui-sans-serif"/>
              </a:rPr>
              <a:t> </a:t>
            </a:r>
            <a:r>
              <a:rPr lang="en-US" sz="1050" b="0" i="0" dirty="0">
                <a:solidFill>
                  <a:schemeClr val="accent5">
                    <a:lumMod val="50000"/>
                  </a:schemeClr>
                </a:solidFill>
                <a:effectLst/>
                <a:latin typeface="ui-sans-serif"/>
              </a:rPr>
              <a:t>The live terminal feed showing the </a:t>
            </a:r>
            <a:r>
              <a:rPr lang="en-US" sz="1050" b="0" i="0" dirty="0">
                <a:solidFill>
                  <a:schemeClr val="accent5">
                    <a:lumMod val="50000"/>
                  </a:schemeClr>
                </a:solidFill>
                <a:effectLst/>
                <a:latin typeface="ui-monospace"/>
              </a:rPr>
              <a:t>MEDICAL_AI</a:t>
            </a:r>
            <a:r>
              <a:rPr lang="en-US" sz="1050" b="0" i="0" dirty="0">
                <a:solidFill>
                  <a:schemeClr val="accent5">
                    <a:lumMod val="50000"/>
                  </a:schemeClr>
                </a:solidFill>
                <a:effectLst/>
                <a:latin typeface="ui-sans-serif"/>
              </a:rPr>
              <a:t> and </a:t>
            </a:r>
            <a:r>
              <a:rPr lang="en-US" sz="1050" b="0" i="0" dirty="0">
                <a:solidFill>
                  <a:schemeClr val="accent5">
                    <a:lumMod val="50000"/>
                  </a:schemeClr>
                </a:solidFill>
                <a:effectLst/>
                <a:latin typeface="ui-monospace"/>
              </a:rPr>
              <a:t>LOGISTICS_AI</a:t>
            </a:r>
            <a:r>
              <a:rPr lang="en-US" sz="1050" b="0" i="0" dirty="0">
                <a:solidFill>
                  <a:schemeClr val="accent5">
                    <a:lumMod val="50000"/>
                  </a:schemeClr>
                </a:solidFill>
                <a:effectLst/>
                <a:latin typeface="ui-sans-serif"/>
              </a:rPr>
              <a:t> autonomously negotiating supply drops.</a:t>
            </a:r>
          </a:p>
          <a:p>
            <a:pPr marL="171450" indent="-171450" algn="l">
              <a:buFont typeface="Wingdings" panose="05000000000000000000" pitchFamily="2" charset="2"/>
              <a:buChar char="Ø"/>
            </a:pPr>
            <a:r>
              <a:rPr lang="en-US" sz="1050" b="1" i="0" dirty="0">
                <a:solidFill>
                  <a:schemeClr val="tx1"/>
                </a:solidFill>
                <a:effectLst/>
                <a:latin typeface="ui-sans-serif"/>
              </a:rPr>
              <a:t>UAV Drone Uplink (Center Right):</a:t>
            </a:r>
            <a:r>
              <a:rPr lang="en-US" sz="1050" b="0" i="0" dirty="0">
                <a:solidFill>
                  <a:schemeClr val="tx1"/>
                </a:solidFill>
                <a:effectLst/>
                <a:latin typeface="ui-sans-serif"/>
              </a:rPr>
              <a:t> A simulated Picture-in-Picture (</a:t>
            </a:r>
            <a:r>
              <a:rPr lang="en-US" sz="1050" b="0" i="0" dirty="0" err="1">
                <a:solidFill>
                  <a:schemeClr val="tx1"/>
                </a:solidFill>
                <a:effectLst/>
                <a:latin typeface="ui-sans-serif"/>
              </a:rPr>
              <a:t>PiP</a:t>
            </a:r>
            <a:r>
              <a:rPr lang="en-US" sz="1050" b="0" i="0" dirty="0">
                <a:solidFill>
                  <a:schemeClr val="tx1"/>
                </a:solidFill>
                <a:effectLst/>
                <a:latin typeface="ui-sans-serif"/>
              </a:rPr>
              <a:t>) FLIR thermal camera feed tracking ground targets.</a:t>
            </a:r>
          </a:p>
          <a:p>
            <a:pPr marL="171450" indent="-171450" algn="l">
              <a:buFont typeface="Wingdings" panose="05000000000000000000" pitchFamily="2" charset="2"/>
              <a:buChar char="Ø"/>
            </a:pPr>
            <a:r>
              <a:rPr lang="en-US" sz="1050" b="1" i="0" dirty="0">
                <a:solidFill>
                  <a:schemeClr val="tx1"/>
                </a:solidFill>
                <a:effectLst/>
                <a:latin typeface="ui-sans-serif"/>
              </a:rPr>
              <a:t>1-Tap Offline SOS (Center):</a:t>
            </a:r>
            <a:r>
              <a:rPr lang="en-US" sz="1050" b="0" i="0" dirty="0">
                <a:solidFill>
                  <a:schemeClr val="accent5">
                    <a:lumMod val="50000"/>
                  </a:schemeClr>
                </a:solidFill>
                <a:effectLst/>
                <a:latin typeface="ui-sans-serif"/>
              </a:rPr>
              <a:t> A native Service Worker function that caches emergency pings locally when the device loses network connectivity.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6"/>
          <p:cNvSpPr txBox="1"/>
          <p:nvPr/>
        </p:nvSpPr>
        <p:spPr>
          <a:xfrm>
            <a:off x="178290" y="484720"/>
            <a:ext cx="8894100" cy="696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1" i="0" u="sng" strike="noStrike" cap="none" dirty="0">
                <a:solidFill>
                  <a:srgbClr val="000000"/>
                </a:solidFill>
                <a:latin typeface="Google Sans"/>
                <a:ea typeface="Google Sans"/>
                <a:cs typeface="Google Sans"/>
                <a:sym typeface="Google Sans"/>
              </a:rPr>
              <a:t>Future Development </a:t>
            </a:r>
            <a:endParaRPr sz="1800" b="1" i="0" u="sng" strike="noStrike" cap="none" dirty="0">
              <a:solidFill>
                <a:srgbClr val="000000"/>
              </a:solidFill>
              <a:latin typeface="Google Sans"/>
              <a:ea typeface="Google Sans"/>
              <a:cs typeface="Google Sans"/>
              <a:sym typeface="Google Sans"/>
            </a:endParaRPr>
          </a:p>
        </p:txBody>
      </p:sp>
      <p:pic>
        <p:nvPicPr>
          <p:cNvPr id="170" name="Google Shape;170;p36" title="frameeeee.png"/>
          <p:cNvPicPr preferRelativeResize="0"/>
          <p:nvPr/>
        </p:nvPicPr>
        <p:blipFill>
          <a:blip r:embed="rId3">
            <a:alphaModFix/>
          </a:blip>
          <a:stretch>
            <a:fillRect/>
          </a:stretch>
        </p:blipFill>
        <p:spPr>
          <a:xfrm>
            <a:off x="0" y="0"/>
            <a:ext cx="9144003" cy="589347"/>
          </a:xfrm>
          <a:prstGeom prst="rect">
            <a:avLst/>
          </a:prstGeom>
          <a:noFill/>
          <a:ln>
            <a:noFill/>
          </a:ln>
        </p:spPr>
      </p:pic>
      <p:sp>
        <p:nvSpPr>
          <p:cNvPr id="3" name="TextBox 2">
            <a:extLst>
              <a:ext uri="{FF2B5EF4-FFF2-40B4-BE49-F238E27FC236}">
                <a16:creationId xmlns:a16="http://schemas.microsoft.com/office/drawing/2014/main" id="{0D88FDE5-C9AF-4A59-D15B-33C1AF107FA1}"/>
              </a:ext>
            </a:extLst>
          </p:cNvPr>
          <p:cNvSpPr txBox="1"/>
          <p:nvPr/>
        </p:nvSpPr>
        <p:spPr>
          <a:xfrm>
            <a:off x="1028700" y="1181020"/>
            <a:ext cx="6987540" cy="3108543"/>
          </a:xfrm>
          <a:prstGeom prst="rect">
            <a:avLst/>
          </a:prstGeom>
          <a:noFill/>
        </p:spPr>
        <p:txBody>
          <a:bodyPr wrap="square">
            <a:spAutoFit/>
          </a:bodyPr>
          <a:lstStyle/>
          <a:p>
            <a:pPr algn="l">
              <a:buNone/>
            </a:pPr>
            <a:r>
              <a:rPr lang="en-IN" sz="2000" b="1" i="0" u="sng" dirty="0">
                <a:solidFill>
                  <a:schemeClr val="tx1"/>
                </a:solidFill>
                <a:effectLst/>
                <a:latin typeface="ui-sans-serif"/>
              </a:rPr>
              <a:t>Future Development Roadmap</a:t>
            </a:r>
          </a:p>
          <a:p>
            <a:pPr algn="l">
              <a:buFont typeface="Arial" panose="020B0604020202020204" pitchFamily="34" charset="0"/>
              <a:buChar char="•"/>
            </a:pPr>
            <a:r>
              <a:rPr lang="en-IN" sz="1600" b="1" i="0" dirty="0">
                <a:solidFill>
                  <a:schemeClr val="tx1"/>
                </a:solidFill>
                <a:effectLst/>
                <a:latin typeface="ui-sans-serif"/>
              </a:rPr>
              <a:t>Physical Mesh Networking</a:t>
            </a:r>
            <a:r>
              <a:rPr lang="en-IN" sz="1600" b="1" i="0" dirty="0">
                <a:solidFill>
                  <a:schemeClr val="accent5">
                    <a:lumMod val="50000"/>
                  </a:schemeClr>
                </a:solidFill>
                <a:effectLst/>
                <a:latin typeface="ui-sans-serif"/>
              </a:rPr>
              <a:t>:</a:t>
            </a:r>
            <a:r>
              <a:rPr lang="en-IN" sz="1600" b="0" i="0" dirty="0">
                <a:solidFill>
                  <a:schemeClr val="accent5">
                    <a:lumMod val="50000"/>
                  </a:schemeClr>
                </a:solidFill>
                <a:effectLst/>
                <a:latin typeface="ui-sans-serif"/>
              </a:rPr>
              <a:t> Deploying lightweight Raspberry Pi Edge servers in disaster zones to create physical offline mesh networks when cellular towers collapse.</a:t>
            </a:r>
          </a:p>
          <a:p>
            <a:pPr algn="l">
              <a:buFont typeface="Arial" panose="020B0604020202020204" pitchFamily="34" charset="0"/>
              <a:buChar char="•"/>
            </a:pPr>
            <a:r>
              <a:rPr lang="en-IN" sz="1600" b="1" i="0" dirty="0">
                <a:solidFill>
                  <a:schemeClr val="tx1"/>
                </a:solidFill>
                <a:effectLst/>
                <a:latin typeface="ui-sans-serif"/>
              </a:rPr>
              <a:t>Real-World Drone SDK Integration</a:t>
            </a:r>
            <a:r>
              <a:rPr lang="en-IN" sz="1600" b="1" i="0" dirty="0">
                <a:solidFill>
                  <a:schemeClr val="accent5">
                    <a:lumMod val="50000"/>
                  </a:schemeClr>
                </a:solidFill>
                <a:effectLst/>
                <a:latin typeface="ui-sans-serif"/>
              </a:rPr>
              <a:t>:</a:t>
            </a:r>
            <a:r>
              <a:rPr lang="en-IN" sz="1600" b="0" i="0" dirty="0">
                <a:solidFill>
                  <a:schemeClr val="accent5">
                    <a:lumMod val="50000"/>
                  </a:schemeClr>
                </a:solidFill>
                <a:effectLst/>
                <a:latin typeface="ui-sans-serif"/>
              </a:rPr>
              <a:t> Bridging our current simulated UAV FLIR module with live DJI Drone APIs to push physical flight paths to actual hardware.</a:t>
            </a:r>
          </a:p>
          <a:p>
            <a:pPr algn="l">
              <a:buFont typeface="Arial" panose="020B0604020202020204" pitchFamily="34" charset="0"/>
              <a:buChar char="•"/>
            </a:pPr>
            <a:r>
              <a:rPr lang="en-IN" sz="1600" b="1" i="0" dirty="0">
                <a:solidFill>
                  <a:schemeClr val="tx1"/>
                </a:solidFill>
                <a:effectLst/>
                <a:latin typeface="ui-sans-serif"/>
              </a:rPr>
              <a:t>Legacy 911 Bridging Pipelines</a:t>
            </a:r>
            <a:r>
              <a:rPr lang="en-IN" sz="1600" b="1" i="0" dirty="0">
                <a:solidFill>
                  <a:schemeClr val="accent5">
                    <a:lumMod val="50000"/>
                  </a:schemeClr>
                </a:solidFill>
                <a:effectLst/>
                <a:latin typeface="ui-sans-serif"/>
              </a:rPr>
              <a:t>:</a:t>
            </a:r>
            <a:r>
              <a:rPr lang="en-IN" sz="1600" b="0" i="0" dirty="0">
                <a:solidFill>
                  <a:schemeClr val="accent5">
                    <a:lumMod val="50000"/>
                  </a:schemeClr>
                </a:solidFill>
                <a:effectLst/>
                <a:latin typeface="ui-sans-serif"/>
              </a:rPr>
              <a:t> Creating backwards-compatible data streams so legacy 911 dispatch </a:t>
            </a:r>
            <a:r>
              <a:rPr lang="en-IN" sz="1600" b="0" i="0" dirty="0" err="1">
                <a:solidFill>
                  <a:schemeClr val="accent5">
                    <a:lumMod val="50000"/>
                  </a:schemeClr>
                </a:solidFill>
                <a:effectLst/>
                <a:latin typeface="ui-sans-serif"/>
              </a:rPr>
              <a:t>centers</a:t>
            </a:r>
            <a:r>
              <a:rPr lang="en-IN" sz="1600" b="0" i="0" dirty="0">
                <a:solidFill>
                  <a:schemeClr val="accent5">
                    <a:lumMod val="50000"/>
                  </a:schemeClr>
                </a:solidFill>
                <a:effectLst/>
                <a:latin typeface="ui-sans-serif"/>
              </a:rPr>
              <a:t> can securely receive our AI-triaged data without upgrading their internal servers.</a:t>
            </a:r>
          </a:p>
          <a:p>
            <a:pPr algn="l">
              <a:buFont typeface="Arial" panose="020B0604020202020204" pitchFamily="34" charset="0"/>
              <a:buChar char="•"/>
            </a:pPr>
            <a:r>
              <a:rPr lang="en-IN" sz="1600" b="1" i="0" dirty="0">
                <a:solidFill>
                  <a:schemeClr val="tx1"/>
                </a:solidFill>
                <a:effectLst/>
                <a:latin typeface="ui-sans-serif"/>
              </a:rPr>
              <a:t>Live Video Multimodal Assessment</a:t>
            </a:r>
            <a:r>
              <a:rPr lang="en-IN" sz="1600" b="1" i="0" dirty="0">
                <a:solidFill>
                  <a:schemeClr val="accent5">
                    <a:lumMod val="50000"/>
                  </a:schemeClr>
                </a:solidFill>
                <a:effectLst/>
                <a:latin typeface="ui-sans-serif"/>
              </a:rPr>
              <a:t>:</a:t>
            </a:r>
            <a:r>
              <a:rPr lang="en-IN" sz="1600" b="0" i="0" dirty="0">
                <a:solidFill>
                  <a:schemeClr val="accent5">
                    <a:lumMod val="50000"/>
                  </a:schemeClr>
                </a:solidFill>
                <a:effectLst/>
                <a:latin typeface="ui-sans-serif"/>
              </a:rPr>
              <a:t> Expanding our current image analysis pipeline to stream live video directly into Gemini to calculate real-time structural collapse risks.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Provide links to your:</a:t>
            </a:r>
            <a:endParaRPr sz="1800" b="0" i="0" u="none" strike="noStrike" cap="none">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a:solidFill>
                  <a:srgbClr val="000000"/>
                </a:solidFill>
                <a:latin typeface="Google Sans"/>
                <a:ea typeface="Google Sans"/>
                <a:cs typeface="Google Sans"/>
                <a:sym typeface="Google Sans"/>
              </a:rPr>
              <a:t>GitHub Public Repository</a:t>
            </a:r>
            <a:endParaRPr sz="1800" b="0" i="0" u="none" strike="noStrike" cap="none">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a:solidFill>
                  <a:srgbClr val="000000"/>
                </a:solidFill>
                <a:latin typeface="Google Sans"/>
                <a:ea typeface="Google Sans"/>
                <a:cs typeface="Google Sans"/>
                <a:sym typeface="Google Sans"/>
              </a:rPr>
              <a:t>Demo Video Link (3 Minutes)</a:t>
            </a:r>
            <a:endParaRPr sz="1800" b="0" i="0" u="none" strike="noStrike" cap="none">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a:solidFill>
                  <a:srgbClr val="000000"/>
                </a:solidFill>
                <a:latin typeface="Google Sans"/>
                <a:ea typeface="Google Sans"/>
                <a:cs typeface="Google Sans"/>
                <a:sym typeface="Google Sans"/>
              </a:rPr>
              <a:t>MVP Link</a:t>
            </a:r>
            <a:endParaRPr sz="1800" b="0" i="0" u="none" strike="noStrike" cap="none">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SzPts val="1800"/>
              <a:buFont typeface="Google Sans"/>
              <a:buAutoNum type="arabicPeriod"/>
            </a:pPr>
            <a:r>
              <a:rPr lang="en-GB" sz="1800">
                <a:latin typeface="Google Sans"/>
                <a:ea typeface="Google Sans"/>
                <a:cs typeface="Google Sans"/>
                <a:sym typeface="Google Sans"/>
              </a:rPr>
              <a:t>Working Prototype Link</a:t>
            </a:r>
            <a:endParaRPr sz="180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
        <p:nvSpPr>
          <p:cNvPr id="177" name="TextBox 176"/>
          <p:cNvSpPr txBox="1"/>
          <p:nvPr/>
        </p:nvSpPr>
        <p:spPr>
          <a:xfrm>
            <a:off x="914400" y="1371600"/>
            <a:ext cx="7315200" cy="4572000"/>
          </a:xfrm>
          <a:prstGeom prst="rect">
            <a:avLst/>
          </a:prstGeom>
          <a:noFill/>
        </p:spPr>
        <p:txBody>
          <a:bodyPr wrap="square">
            <a:spAutoFit/>
          </a:bodyPr>
          <a:lstStyle/>
          <a:p>
            <a:endParaRPr/>
          </a:p>
          <a:p>
            <a:pPr>
              <a:defRPr sz="1800"/>
            </a:pPr>
            <a:r>
              <a:t>- GitHub Public Repository: [Insert URL]</a:t>
            </a:r>
            <a:br/>
            <a:r>
              <a:t>- Demo Video Link: [Insert YouTube]</a:t>
            </a:r>
            <a:br/>
            <a:r>
              <a:t>- MVP Link: [Insert Vercel / Firebase Hosting URL]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1540</Words>
  <Application>Microsoft Office PowerPoint</Application>
  <PresentationFormat>On-screen Show (16:9)</PresentationFormat>
  <Paragraphs>81</Paragraphs>
  <Slides>14</Slides>
  <Notes>14</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14</vt:i4>
      </vt:variant>
    </vt:vector>
  </HeadingPairs>
  <TitlesOfParts>
    <vt:vector size="23" baseType="lpstr">
      <vt:lpstr>Google Sans</vt:lpstr>
      <vt:lpstr>ui-sans-serif</vt:lpstr>
      <vt:lpstr>Arial</vt:lpstr>
      <vt:lpstr>Calibri</vt:lpstr>
      <vt:lpstr>Wingdings</vt:lpstr>
      <vt:lpstr>Aptos Display</vt:lpstr>
      <vt:lpstr>ui-monospace</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kishan raj</cp:lastModifiedBy>
  <cp:revision>1</cp:revision>
  <dcterms:modified xsi:type="dcterms:W3CDTF">2026-04-26T15:15:35Z</dcterms:modified>
</cp:coreProperties>
</file>